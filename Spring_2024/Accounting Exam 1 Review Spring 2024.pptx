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notesMasterIdLst>
    <p:notesMasterId r:id="rId71"/>
  </p:notesMasterIdLst>
  <p:sldIdLst>
    <p:sldId id="256" r:id="rId2"/>
    <p:sldId id="323" r:id="rId3"/>
    <p:sldId id="325" r:id="rId4"/>
    <p:sldId id="329" r:id="rId5"/>
    <p:sldId id="331" r:id="rId6"/>
    <p:sldId id="330" r:id="rId7"/>
    <p:sldId id="257" r:id="rId8"/>
    <p:sldId id="261" r:id="rId9"/>
    <p:sldId id="268" r:id="rId10"/>
    <p:sldId id="281" r:id="rId11"/>
    <p:sldId id="285" r:id="rId12"/>
    <p:sldId id="273" r:id="rId13"/>
    <p:sldId id="262" r:id="rId14"/>
    <p:sldId id="279" r:id="rId15"/>
    <p:sldId id="278" r:id="rId16"/>
    <p:sldId id="263" r:id="rId17"/>
    <p:sldId id="264" r:id="rId18"/>
    <p:sldId id="283" r:id="rId19"/>
    <p:sldId id="275" r:id="rId20"/>
    <p:sldId id="270" r:id="rId21"/>
    <p:sldId id="265" r:id="rId22"/>
    <p:sldId id="267" r:id="rId23"/>
    <p:sldId id="277" r:id="rId24"/>
    <p:sldId id="266" r:id="rId25"/>
    <p:sldId id="269" r:id="rId26"/>
    <p:sldId id="333" r:id="rId27"/>
    <p:sldId id="259" r:id="rId28"/>
    <p:sldId id="334" r:id="rId29"/>
    <p:sldId id="298" r:id="rId30"/>
    <p:sldId id="317" r:id="rId31"/>
    <p:sldId id="292" r:id="rId32"/>
    <p:sldId id="293" r:id="rId33"/>
    <p:sldId id="294" r:id="rId34"/>
    <p:sldId id="258" r:id="rId35"/>
    <p:sldId id="335" r:id="rId36"/>
    <p:sldId id="287" r:id="rId37"/>
    <p:sldId id="288" r:id="rId38"/>
    <p:sldId id="336" r:id="rId39"/>
    <p:sldId id="296" r:id="rId40"/>
    <p:sldId id="299" r:id="rId41"/>
    <p:sldId id="300" r:id="rId42"/>
    <p:sldId id="301" r:id="rId43"/>
    <p:sldId id="302" r:id="rId44"/>
    <p:sldId id="326" r:id="rId45"/>
    <p:sldId id="327" r:id="rId46"/>
    <p:sldId id="289" r:id="rId47"/>
    <p:sldId id="295" r:id="rId48"/>
    <p:sldId id="337" r:id="rId49"/>
    <p:sldId id="297" r:id="rId50"/>
    <p:sldId id="344" r:id="rId51"/>
    <p:sldId id="345" r:id="rId52"/>
    <p:sldId id="260" r:id="rId53"/>
    <p:sldId id="338" r:id="rId54"/>
    <p:sldId id="339" r:id="rId55"/>
    <p:sldId id="340" r:id="rId56"/>
    <p:sldId id="341" r:id="rId57"/>
    <p:sldId id="342" r:id="rId58"/>
    <p:sldId id="346" r:id="rId59"/>
    <p:sldId id="347" r:id="rId60"/>
    <p:sldId id="332" r:id="rId61"/>
    <p:sldId id="309" r:id="rId62"/>
    <p:sldId id="304" r:id="rId63"/>
    <p:sldId id="305" r:id="rId64"/>
    <p:sldId id="307" r:id="rId65"/>
    <p:sldId id="319" r:id="rId66"/>
    <p:sldId id="343" r:id="rId67"/>
    <p:sldId id="348" r:id="rId68"/>
    <p:sldId id="349" r:id="rId69"/>
    <p:sldId id="350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58FDD1-996F-7C41-B55B-6B2C41856546}">
          <p14:sldIdLst>
            <p14:sldId id="256"/>
            <p14:sldId id="323"/>
            <p14:sldId id="325"/>
          </p14:sldIdLst>
        </p14:section>
        <p14:section name="Chapter 1/4" id="{4C37323E-5498-F645-9F5D-625ED883DB16}">
          <p14:sldIdLst>
            <p14:sldId id="329"/>
            <p14:sldId id="331"/>
            <p14:sldId id="330"/>
            <p14:sldId id="257"/>
            <p14:sldId id="261"/>
            <p14:sldId id="268"/>
            <p14:sldId id="281"/>
            <p14:sldId id="285"/>
            <p14:sldId id="273"/>
            <p14:sldId id="262"/>
            <p14:sldId id="279"/>
            <p14:sldId id="278"/>
            <p14:sldId id="263"/>
            <p14:sldId id="264"/>
            <p14:sldId id="283"/>
            <p14:sldId id="275"/>
            <p14:sldId id="270"/>
            <p14:sldId id="265"/>
            <p14:sldId id="267"/>
            <p14:sldId id="277"/>
            <p14:sldId id="266"/>
            <p14:sldId id="269"/>
            <p14:sldId id="333"/>
          </p14:sldIdLst>
        </p14:section>
        <p14:section name="Chapter 2" id="{DD39870F-5259-B849-AA9B-3BE26EB9B5D2}">
          <p14:sldIdLst>
            <p14:sldId id="259"/>
            <p14:sldId id="334"/>
            <p14:sldId id="298"/>
            <p14:sldId id="317"/>
            <p14:sldId id="292"/>
            <p14:sldId id="293"/>
            <p14:sldId id="294"/>
          </p14:sldIdLst>
        </p14:section>
        <p14:section name="Chapter 3 + Appendix C" id="{BD07E25B-CEE8-0B4F-BD54-093E819BB05B}">
          <p14:sldIdLst>
            <p14:sldId id="258"/>
            <p14:sldId id="335"/>
            <p14:sldId id="287"/>
            <p14:sldId id="288"/>
            <p14:sldId id="336"/>
            <p14:sldId id="296"/>
            <p14:sldId id="299"/>
            <p14:sldId id="300"/>
            <p14:sldId id="301"/>
            <p14:sldId id="302"/>
            <p14:sldId id="326"/>
            <p14:sldId id="327"/>
            <p14:sldId id="289"/>
            <p14:sldId id="295"/>
            <p14:sldId id="337"/>
            <p14:sldId id="297"/>
            <p14:sldId id="344"/>
            <p14:sldId id="345"/>
          </p14:sldIdLst>
        </p14:section>
        <p14:section name="Chapter 5/11" id="{C90665A0-6135-4C40-8440-434A19E25A84}">
          <p14:sldIdLst>
            <p14:sldId id="260"/>
            <p14:sldId id="338"/>
            <p14:sldId id="339"/>
            <p14:sldId id="340"/>
            <p14:sldId id="341"/>
            <p14:sldId id="342"/>
            <p14:sldId id="346"/>
            <p14:sldId id="347"/>
            <p14:sldId id="332"/>
            <p14:sldId id="309"/>
            <p14:sldId id="304"/>
            <p14:sldId id="305"/>
            <p14:sldId id="307"/>
            <p14:sldId id="319"/>
            <p14:sldId id="343"/>
            <p14:sldId id="348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CA04E-5095-D24E-9AB8-9705C4AF106E}" v="2" dt="2024-02-18T20:12:13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7" autoAdjust="0"/>
    <p:restoredTop sz="73440" autoAdjust="0"/>
  </p:normalViewPr>
  <p:slideViewPr>
    <p:cSldViewPr snapToGrid="0">
      <p:cViewPr>
        <p:scale>
          <a:sx n="99" d="100"/>
          <a:sy n="99" d="100"/>
        </p:scale>
        <p:origin x="77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2A5C5-8276-46CB-99F4-91848E355330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DC6EF-1C85-49B0-ADF2-4A0338D3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6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54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2D10-B49B-5BB9-B8F7-153647AE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F0AB4-E473-9D20-42C3-D6CF82292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86FC3-6EFE-D292-7E76-2FC4D86E4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9F816-6C5B-5E55-F630-FEC53DA78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66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8D76-055A-355C-58A3-D3FBACC6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E598A-DFE4-1774-578F-5A6D26438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B11FC-9F61-4B7C-4EFD-3FA95C9EF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distinction between private and business assets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921DC-C261-F5EC-ADEF-2795D659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78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70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3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EF73-015A-7F1C-3FBC-7AB73B79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83BB6-0687-2A03-C08F-1B411B24E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7B242-F9BF-9368-DED6-8CB5A36D1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1C619-1A91-5380-6622-47389F311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34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58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D44E-50C0-696A-25BC-3564BE90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10A6B-FFB1-D2D4-7ECE-8F4B37BB4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F5645-6271-CBF4-C54F-29815703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AFC59-6D1E-818A-CD59-709DD42BA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98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D6C3-2770-1924-44BD-EBC3511B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45BB2-BDE4-2F58-88C8-52B0E70F8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45A80-5A34-7566-18EA-A1821ECD0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arenR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lphaUcParenR"/>
            </a:pPr>
            <a:endParaRPr lang="en-US" dirty="0"/>
          </a:p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ACB94-5E0D-341E-DBFE-06119CDEE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2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Inventory – Asset (Current), balance sheet</a:t>
            </a:r>
          </a:p>
          <a:p>
            <a:r>
              <a:rPr lang="en-US" dirty="0"/>
              <a:t>Cash – Asset, balance sheet, income statement, cash flow</a:t>
            </a:r>
          </a:p>
          <a:p>
            <a:r>
              <a:rPr lang="en-US" dirty="0"/>
              <a:t>A loan to be repaid- Liability, balance sheet</a:t>
            </a:r>
          </a:p>
          <a:p>
            <a:r>
              <a:rPr lang="en-US" dirty="0"/>
              <a:t>Copy Machine- Asset, Depreciation – Negative asset. In Equipment on balance statement</a:t>
            </a:r>
          </a:p>
          <a:p>
            <a:r>
              <a:rPr lang="en-US" dirty="0"/>
              <a:t>Money Spent – Negative cash flow, investing expense</a:t>
            </a:r>
          </a:p>
          <a:p>
            <a:r>
              <a:rPr lang="en-US" dirty="0"/>
              <a:t>AP – Liability, BS</a:t>
            </a:r>
          </a:p>
          <a:p>
            <a:r>
              <a:rPr lang="en-US" dirty="0"/>
              <a:t>AR – Asset, 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13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18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1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92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37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r>
              <a:rPr lang="en-US" dirty="0"/>
              <a:t>Keep but don’t go through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52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91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44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Potentially 2-28</a:t>
            </a:r>
          </a:p>
          <a:p>
            <a:endParaRPr lang="en-US" dirty="0"/>
          </a:p>
          <a:p>
            <a:r>
              <a:rPr lang="en-US" dirty="0"/>
              <a:t>Potentially 2-34 or 2-35 (like in class example) --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3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2377-53E1-0A1A-5F49-9B1A4BF7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596B4-381C-D202-0C50-33E2A45BF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1564A-4E73-66EE-C1C2-2D7421487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insurance, rent</a:t>
            </a:r>
          </a:p>
          <a:p>
            <a:r>
              <a:rPr lang="en-US" dirty="0"/>
              <a:t>Pay cash before you expense</a:t>
            </a:r>
          </a:p>
          <a:p>
            <a:r>
              <a:rPr lang="en-US" dirty="0"/>
              <a:t>Creates an asset to use as you expense it in the 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3B56F-B8B2-A0E8-B407-C0E26EE84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52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5250-D950-38D5-2917-81B9F80B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36902-0FC4-CD26-239F-05E87E957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E2F3F-1E91-CB1C-D79F-63E46F4F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revenue before selling the product</a:t>
            </a:r>
          </a:p>
          <a:p>
            <a:r>
              <a:rPr lang="en-US" dirty="0"/>
              <a:t>Creates a liability until you provide the product or service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5A0B7-AEA9-A04E-65CE-FA029F13A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62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D82E-C389-3AF2-39F7-BADB18D79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B56EB-1094-BCA5-B238-96D37D79C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84BEE-65E8-920B-363C-98FEA20DB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Paying bills on a credit card</a:t>
            </a:r>
          </a:p>
          <a:p>
            <a:r>
              <a:rPr lang="en-US" dirty="0"/>
              <a:t>You record the expense before paying the cash </a:t>
            </a:r>
          </a:p>
          <a:p>
            <a:r>
              <a:rPr lang="en-US" dirty="0"/>
              <a:t>Create a liability until you pay the cash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B3FE0-3F41-0FAC-91CC-A605F65BD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888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995C-B393-359B-3A6C-B79847B7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AC5CF-6E7A-02CB-DA27-C3EE462CD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90FDA-AE4C-79AC-8B34-4720F8F27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Selling items on credit</a:t>
            </a:r>
          </a:p>
          <a:p>
            <a:r>
              <a:rPr lang="en-US" dirty="0"/>
              <a:t>You have earned the revenue </a:t>
            </a:r>
          </a:p>
          <a:p>
            <a:r>
              <a:rPr lang="en-US" dirty="0"/>
              <a:t>Creates an asset (AR) until you collect the cash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DE0F8-094F-D83A-2B7A-B45E70674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48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251D-D65F-B1F6-929C-C10390F1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472FE-AC0F-4F0B-2F14-77F8E57F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187D4-AB0A-B70A-B1C4-94CAC2E35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835E2-2D3E-9045-7102-B5D628375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14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65C1-E7B1-814E-E068-38E9C038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FFF18-1BE6-2ED6-81FE-DA4B77BDA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0A7E1-48D7-8ACB-B419-8E8867EFE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74B3-D064-11AD-5EE4-34AB528C8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36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AC40-EF62-E7BC-2D15-09FF5E45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9C2CA-73B4-2458-8A5B-A229004D1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6F070-2752-4489-86AE-C60BA23EF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A6B8E-4920-3AC2-F378-2F3FE632B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78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3506E-319B-46EC-1A48-A650EEEE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AF2CD-F545-E680-D3B4-4E19413C8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FF110-F983-0CA7-B673-F80AEF6F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Revenues – debit decrease, credit increase</a:t>
            </a:r>
          </a:p>
          <a:p>
            <a:r>
              <a:rPr lang="en-US" dirty="0"/>
              <a:t>Expenses – debit increase, credit decrease</a:t>
            </a:r>
          </a:p>
          <a:p>
            <a:r>
              <a:rPr lang="en-US" dirty="0"/>
              <a:t>Dividends – debit increase, credit decrease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26484-3C4F-5B10-33CA-29E78F541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32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C87D-D544-F311-1CAF-F3308614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7CFA5-6BB6-9C4A-D2DD-52B7753D0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A15D8-38D2-59BD-AEEB-A5F879520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Retained earnings – debit decreases, credit increases (because it is an equity account)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82B8F-B966-66ED-0B20-F4C4DCE87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67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7564-E36E-A9E5-E1D5-65C8E49A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BFF9E-B68A-EB7B-EE3D-3CFF3D0F5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F94F5-82D3-FC58-9C7D-63C8F6EB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7D19B-3196-D203-AB42-04BB6DA0B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91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2C715-248E-09F0-39DA-02FD48F9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4AF04-8F55-F558-1423-D93CA1AEB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DFE4A-9A9A-5145-659C-B818153BD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44A4-FE98-6F2E-4CE7-44CDA1850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977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triangle is the visual representation of why fraud can occur, including some of the most common factors for fraud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259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CF81-1208-A19E-03FF-DD62A9EB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387D8-B988-9F29-B09D-23BD60D33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5F650-3983-EA33-8A27-C4C908E3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A47EA-DB73-0953-9872-87382E220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186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334A9-5E87-7EB1-0D8D-B876D480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3AA1E-92DC-65FD-5D6E-6DDBF1002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D5D32-7CAA-107D-C650-9642A637A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AD58-9899-4187-BB2E-6967AB615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348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6DAD-A483-ECBD-2B80-2A791517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BE4D7-6898-9D7A-67EE-8A9DEC517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10E51-78AC-2BF8-1CE9-2BBB9BB57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8DDC-4CE4-96E3-6D74-F27F416D8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889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8539-1A57-551F-C24A-DEB35872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83EEA-D618-71BC-B285-39A17EB3A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56BE8-D9F3-BB8C-800E-A0AC0F065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F4967-509F-51A6-D0CE-AF69AECF3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469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128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low Days in Sales Outstanding</a:t>
            </a:r>
          </a:p>
          <a:p>
            <a:r>
              <a:rPr lang="en-US" dirty="0"/>
              <a:t>Want low Days in Inventory Outstanding </a:t>
            </a:r>
          </a:p>
          <a:p>
            <a:r>
              <a:rPr lang="en-US" dirty="0"/>
              <a:t>Want high Days Payable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21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685F-AA6D-9D9C-6B2F-EF4DBC62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B21C3-7D8B-83C4-B2A7-DF3CE4867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5448B-0B6A-1B83-E34F-1372CC16C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D84F2-15AF-AA65-5AE3-90AAFD84A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751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4F4F-0CDB-25C2-ED44-D70D75FB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2C9C6-0D10-3553-4080-B38916492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0EAFB-B440-A948-F678-713BA43C5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56B6C-C422-9979-463C-B7B6B963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739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9EF0E-7F22-351D-A7AF-94A8F6BE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C92D0-B1B4-6F8B-BF7C-A42529E61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BA297-5458-5C9C-768F-801219578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BC90B-969B-7F38-E812-6F14D596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DC6EF-1C85-49B0-ADF2-4A0338D3E3C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02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43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85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18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75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2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28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51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2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57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AB2F089-E0A1-4033-A002-038CC6578A48}" type="datetimeFigureOut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08A5F5F-8678-4ACC-BE29-945FD806CC1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75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14E7-D0A3-4D8A-A42B-11683C056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Accounting Exam 1 Review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D73EC-E02B-49CE-9E91-66531D323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442855" cy="1463040"/>
          </a:xfrm>
        </p:spPr>
        <p:txBody>
          <a:bodyPr>
            <a:normAutofit/>
          </a:bodyPr>
          <a:lstStyle/>
          <a:p>
            <a:r>
              <a:rPr lang="en-US" dirty="0"/>
              <a:t>Overview and Practice Problems</a:t>
            </a:r>
          </a:p>
          <a:p>
            <a:r>
              <a:rPr lang="en-US" dirty="0"/>
              <a:t>Chapter 1 –  5, 11 + Appendix C</a:t>
            </a:r>
          </a:p>
        </p:txBody>
      </p:sp>
    </p:spTree>
    <p:extLst>
      <p:ext uri="{BB962C8B-B14F-4D97-AF65-F5344CB8AC3E}">
        <p14:creationId xmlns:p14="http://schemas.microsoft.com/office/powerpoint/2010/main" val="100566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B3A3-9D55-5646-A0D1-957581A3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55ED8-98F5-8545-B5BC-FA407600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Capital Formulas</a:t>
            </a:r>
          </a:p>
          <a:p>
            <a:r>
              <a:rPr lang="en-US" dirty="0"/>
              <a:t>Retained Earnings = Net Income – Dividends</a:t>
            </a:r>
          </a:p>
          <a:p>
            <a:r>
              <a:rPr lang="en-US" dirty="0"/>
              <a:t>Assets = Liabilities + Equity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**Equations/explanations later in slide show</a:t>
            </a:r>
          </a:p>
        </p:txBody>
      </p:sp>
    </p:spTree>
    <p:extLst>
      <p:ext uri="{BB962C8B-B14F-4D97-AF65-F5344CB8AC3E}">
        <p14:creationId xmlns:p14="http://schemas.microsoft.com/office/powerpoint/2010/main" val="56392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B3A3-9D55-5646-A0D1-957581A3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55ED8-98F5-8545-B5BC-FA407600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 TO HAVE A TIME CRUNCH</a:t>
            </a:r>
          </a:p>
          <a:p>
            <a:r>
              <a:rPr lang="en-US" dirty="0"/>
              <a:t>I am not saying that the test is undoable! However, most students will take the entire class period if not very close to the entire class period to finish the exam</a:t>
            </a:r>
          </a:p>
          <a:p>
            <a:r>
              <a:rPr lang="en-US" dirty="0"/>
              <a:t>Don’t spend too much time on one multiple choice question, think like ACT</a:t>
            </a:r>
          </a:p>
          <a:p>
            <a:r>
              <a:rPr lang="en-US" b="1" dirty="0"/>
              <a:t>SHOW YOUR WORK</a:t>
            </a:r>
          </a:p>
          <a:p>
            <a:pPr lvl="1"/>
            <a:r>
              <a:rPr lang="en-US" dirty="0"/>
              <a:t>There is partial credit for both the work out problem and the transactions</a:t>
            </a:r>
          </a:p>
          <a:p>
            <a:pPr lvl="1"/>
            <a:r>
              <a:rPr lang="en-US" b="1" dirty="0"/>
              <a:t>Show your logic/thought process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7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AB67-740A-0070-8FB1-58613120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F5E6-C596-B627-DD03-6D720943B4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8517" y="804863"/>
            <a:ext cx="3390900" cy="524827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Chapter 1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F97A-EB3E-0160-30E6-B9C76D3D73F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88082" y="804863"/>
            <a:ext cx="6257925" cy="5248275"/>
          </a:xfrm>
        </p:spPr>
        <p:txBody>
          <a:bodyPr anchor="ctr">
            <a:normAutofit/>
          </a:bodyPr>
          <a:lstStyle/>
          <a:p>
            <a:r>
              <a:rPr lang="en-US" dirty="0"/>
              <a:t>4 Types of Businesses</a:t>
            </a:r>
          </a:p>
          <a:p>
            <a:r>
              <a:rPr lang="en-US" dirty="0"/>
              <a:t>General Benefits and Drawbacks for Each</a:t>
            </a:r>
          </a:p>
          <a:p>
            <a:r>
              <a:rPr lang="en-US" dirty="0"/>
              <a:t>Business Tax Structures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F17E21-88DA-52AE-4C01-BB67BDDB8C1D}"/>
              </a:ext>
            </a:extLst>
          </p:cNvPr>
          <p:cNvCxnSpPr>
            <a:cxnSpLocks/>
          </p:cNvCxnSpPr>
          <p:nvPr/>
        </p:nvCxnSpPr>
        <p:spPr>
          <a:xfrm>
            <a:off x="4538749" y="1313411"/>
            <a:ext cx="0" cy="452212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8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FA86-2982-13AB-CA2D-029BFF1A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D8DA-ADA3-F306-7A6A-DC066933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Tax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74E47-B763-B915-4871-4269315DD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Pass-Through Entities: </a:t>
            </a:r>
            <a:r>
              <a:rPr lang="en-US" dirty="0"/>
              <a:t>Profits go to owners, who pay the taxes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Sole Proprietorship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Partnership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Limited Liability Companies (LLC)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S-Corporations</a:t>
            </a:r>
          </a:p>
          <a:p>
            <a:pPr marL="173736" lvl="1" indent="0">
              <a:buNone/>
            </a:pPr>
            <a:r>
              <a:rPr lang="en-US" sz="2200" b="1" dirty="0"/>
              <a:t>Corporate Taxpayers: </a:t>
            </a:r>
            <a:r>
              <a:rPr lang="en-US" sz="2200" dirty="0"/>
              <a:t>Profits go to corporation, who pays taxes. Shareholders are also taxed on dividends, resulting in double taxes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C-Corporations</a:t>
            </a:r>
          </a:p>
          <a:p>
            <a:pPr marL="630936" lvl="1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1B5E-EE32-DBB3-69E0-E359D24E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6B8D-75A3-949D-6ED4-551875C0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Types of Business +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47F0-8622-8313-435C-E9522AF82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20240"/>
            <a:ext cx="9720073" cy="4729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Sole Proprietorship – </a:t>
            </a:r>
            <a:r>
              <a:rPr lang="en-US" dirty="0"/>
              <a:t>One individual owning a business</a:t>
            </a:r>
            <a:endParaRPr lang="en-US" b="1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Advantages: Low regulation, easy to form, and no corporate income taxes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Disadvantages: Limited lifespan, unlimited liability, hard to raise capital, no distinction in assets</a:t>
            </a:r>
          </a:p>
          <a:p>
            <a:pPr marL="0" indent="0">
              <a:buNone/>
            </a:pPr>
            <a:r>
              <a:rPr lang="en-US" b="1" dirty="0"/>
              <a:t>Partnership– </a:t>
            </a:r>
            <a:r>
              <a:rPr lang="en-US" dirty="0"/>
              <a:t>Multiple individuals owning a business</a:t>
            </a:r>
            <a:endParaRPr lang="en-US" b="1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Advantages: Low regulation, easy to form, and no corporate income taxes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Disadvantages: Limited lifespan, unlimited liability, hard to raise capital, no distinction in assets</a:t>
            </a:r>
          </a:p>
          <a:p>
            <a:pPr marL="0" indent="0">
              <a:buNone/>
            </a:pPr>
            <a:r>
              <a:rPr lang="en-US" b="1" dirty="0"/>
              <a:t>S-Corporation/LLC– </a:t>
            </a:r>
            <a:r>
              <a:rPr lang="en-US" dirty="0"/>
              <a:t>Corporations that get taxed like partnerships/proprietorships</a:t>
            </a:r>
            <a:endParaRPr lang="en-US" b="1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Advantages: Lifespan, limited liability protection, and no corporate income taxes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Disadvantages: Restrictions, harder to raise capital compared to C-</a:t>
            </a:r>
            <a:r>
              <a:rPr lang="en-US" dirty="0" err="1"/>
              <a:t>corp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C-Corporation– </a:t>
            </a:r>
            <a:r>
              <a:rPr lang="en-US" dirty="0"/>
              <a:t>Corporations, that exist as a separate legal entity</a:t>
            </a:r>
            <a:endParaRPr lang="en-US" b="1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Advantages: Unlimited life, easy transfer, limited liability, ease of raising capital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Disadvantages: </a:t>
            </a:r>
            <a:r>
              <a:rPr lang="en-US" b="1" dirty="0"/>
              <a:t>Double taxation</a:t>
            </a:r>
            <a:r>
              <a:rPr lang="en-US" dirty="0"/>
              <a:t>, higher regulation, cost of set up and filing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65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5DA37-0BB6-4AA8-BA11-782BF193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Chapter 1/4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052B-8752-4097-AA27-C6D3C6B9C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448887"/>
            <a:ext cx="6257721" cy="6035040"/>
          </a:xfrm>
        </p:spPr>
        <p:txBody>
          <a:bodyPr anchor="ctr">
            <a:normAutofit/>
          </a:bodyPr>
          <a:lstStyle/>
          <a:p>
            <a:r>
              <a:rPr lang="en-US" dirty="0"/>
              <a:t>4 Financial Statements</a:t>
            </a:r>
          </a:p>
          <a:p>
            <a:r>
              <a:rPr lang="en-US" dirty="0"/>
              <a:t>Users of Financial Statements</a:t>
            </a:r>
          </a:p>
          <a:p>
            <a:r>
              <a:rPr lang="en-US" dirty="0"/>
              <a:t>Accounting Standards</a:t>
            </a:r>
          </a:p>
          <a:p>
            <a:r>
              <a:rPr lang="en-US" dirty="0"/>
              <a:t>SEC filings and certifications</a:t>
            </a:r>
          </a:p>
          <a:p>
            <a:r>
              <a:rPr lang="en-US" dirty="0"/>
              <a:t>Types of accounts/categories within each financial statement</a:t>
            </a:r>
          </a:p>
          <a:p>
            <a:r>
              <a:rPr lang="en-US" dirty="0"/>
              <a:t>Order of Balance Sheet</a:t>
            </a:r>
          </a:p>
          <a:p>
            <a:r>
              <a:rPr lang="en-US" dirty="0"/>
              <a:t>Asset v Expense</a:t>
            </a:r>
          </a:p>
          <a:p>
            <a:r>
              <a:rPr lang="en-US" dirty="0"/>
              <a:t>Retained Earnings Formula</a:t>
            </a:r>
          </a:p>
          <a:p>
            <a:r>
              <a:rPr lang="en-US" dirty="0"/>
              <a:t>Current versus Long Term (balance sheet)</a:t>
            </a:r>
          </a:p>
          <a:p>
            <a:r>
              <a:rPr lang="en-US" dirty="0"/>
              <a:t>Order of Income Statement</a:t>
            </a:r>
          </a:p>
          <a:p>
            <a:r>
              <a:rPr lang="en-US" dirty="0"/>
              <a:t>Audit Opinions</a:t>
            </a:r>
          </a:p>
          <a:p>
            <a:r>
              <a:rPr lang="en-US" dirty="0"/>
              <a:t>Categories of Ratio Analysis</a:t>
            </a:r>
          </a:p>
        </p:txBody>
      </p:sp>
    </p:spTree>
    <p:extLst>
      <p:ext uri="{BB962C8B-B14F-4D97-AF65-F5344CB8AC3E}">
        <p14:creationId xmlns:p14="http://schemas.microsoft.com/office/powerpoint/2010/main" val="336088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7432-CF6E-4CCF-9627-CD2062D3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en-US" sz="4000"/>
              <a:t>Balance 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58CAB-8705-4D13-A167-C0931CEDB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6462" cy="3940844"/>
          </a:xfrm>
        </p:spPr>
        <p:txBody>
          <a:bodyPr>
            <a:normAutofit/>
          </a:bodyPr>
          <a:lstStyle/>
          <a:p>
            <a:r>
              <a:rPr lang="en-US" b="1" dirty="0"/>
              <a:t>Reported at a Point in time</a:t>
            </a:r>
          </a:p>
          <a:p>
            <a:r>
              <a:rPr lang="en-US" b="1" dirty="0"/>
              <a:t>Assets = Liabilities + Equity</a:t>
            </a:r>
          </a:p>
          <a:p>
            <a:r>
              <a:rPr lang="en-US" dirty="0"/>
              <a:t>Current Assets, Non-Current Assets (In order of liquidity)</a:t>
            </a:r>
          </a:p>
          <a:p>
            <a:r>
              <a:rPr lang="en-US" dirty="0"/>
              <a:t>Current Liabilities, Non-Current Liabilities</a:t>
            </a:r>
          </a:p>
          <a:p>
            <a:r>
              <a:rPr lang="en-US" dirty="0"/>
              <a:t>Retained Earnings is last, before Total Equity</a:t>
            </a:r>
          </a:p>
        </p:txBody>
      </p:sp>
      <p:pic>
        <p:nvPicPr>
          <p:cNvPr id="1026" name="Picture 2" descr="Image result for balance sheet">
            <a:hlinkClick r:id="rId3" action="ppaction://hlinksldjump"/>
            <a:extLst>
              <a:ext uri="{FF2B5EF4-FFF2-40B4-BE49-F238E27FC236}">
                <a16:creationId xmlns:a16="http://schemas.microsoft.com/office/drawing/2014/main" id="{B5456A64-2D0B-4B0D-A6E1-F669F43FF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319" y="645107"/>
            <a:ext cx="5230433" cy="559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A4E6FE-2329-4D6A-8DB5-8BA047E48DAD}"/>
              </a:ext>
            </a:extLst>
          </p:cNvPr>
          <p:cNvSpPr/>
          <p:nvPr/>
        </p:nvSpPr>
        <p:spPr>
          <a:xfrm>
            <a:off x="6105330" y="5738326"/>
            <a:ext cx="4074367" cy="382555"/>
          </a:xfrm>
          <a:prstGeom prst="rect">
            <a:avLst/>
          </a:prstGeom>
          <a:solidFill>
            <a:srgbClr val="FFFF00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4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0859-E9E4-45B4-875B-C3CD3CDF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Versus long term (Balance Sheet)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6090-6EEC-4324-BE60-99D34B99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Rule of Thumb</a:t>
            </a:r>
          </a:p>
          <a:p>
            <a:pPr lvl="1"/>
            <a:r>
              <a:rPr lang="en-US" dirty="0"/>
              <a:t>Current Liabilities will be paid in the next year</a:t>
            </a:r>
          </a:p>
          <a:p>
            <a:pPr lvl="1"/>
            <a:r>
              <a:rPr lang="en-US" dirty="0"/>
              <a:t>Long Term Liabilities will be paid in more than a year</a:t>
            </a:r>
          </a:p>
          <a:p>
            <a:r>
              <a:rPr lang="en-US" dirty="0"/>
              <a:t>Current Assets</a:t>
            </a:r>
          </a:p>
          <a:p>
            <a:pPr lvl="1"/>
            <a:r>
              <a:rPr lang="en-US" dirty="0"/>
              <a:t>Quicker to convert to cash (Most liquid)</a:t>
            </a:r>
          </a:p>
          <a:p>
            <a:pPr lvl="2"/>
            <a:r>
              <a:rPr lang="en-US" dirty="0"/>
              <a:t>Cash, Short Term Investments, Accounts Receivables, Inventories, Prepaid Expenses</a:t>
            </a:r>
          </a:p>
          <a:p>
            <a:r>
              <a:rPr lang="en-US" dirty="0"/>
              <a:t>Long-Term Assets</a:t>
            </a:r>
          </a:p>
          <a:p>
            <a:pPr lvl="1"/>
            <a:r>
              <a:rPr lang="en-US" dirty="0"/>
              <a:t>Property, plant and Equipment (PPE), net, Long-term investments, Intangible and other assets</a:t>
            </a:r>
          </a:p>
        </p:txBody>
      </p:sp>
    </p:spTree>
    <p:extLst>
      <p:ext uri="{BB962C8B-B14F-4D97-AF65-F5344CB8AC3E}">
        <p14:creationId xmlns:p14="http://schemas.microsoft.com/office/powerpoint/2010/main" val="2262915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E8C5-D93D-850D-4845-E9C935C9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899E-5861-DF1F-8EB5-A52DFB65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value vs book value or historical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EE997-2121-9448-FC18-864A1DAED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Market Capitalization: A company’s Market Value</a:t>
            </a:r>
          </a:p>
          <a:p>
            <a:pPr lvl="1"/>
            <a:r>
              <a:rPr lang="en-US" dirty="0"/>
              <a:t>Multiply the number of outstanding common shares by the company’s stock price</a:t>
            </a:r>
          </a:p>
          <a:p>
            <a:r>
              <a:rPr lang="en-US" dirty="0"/>
              <a:t>Book Value: Stockholders’ Equity;  Value of the company, determined by GAAP</a:t>
            </a:r>
          </a:p>
          <a:p>
            <a:r>
              <a:rPr lang="en-US" dirty="0"/>
              <a:t>Differences between Book and Market Value</a:t>
            </a:r>
          </a:p>
          <a:p>
            <a:pPr lvl="1"/>
            <a:r>
              <a:rPr lang="en-US" dirty="0"/>
              <a:t>GAAP generally reports assets and liabilities </a:t>
            </a:r>
            <a:r>
              <a:rPr lang="en-US" b="1" dirty="0"/>
              <a:t>at historical </a:t>
            </a:r>
            <a:r>
              <a:rPr lang="en-US" dirty="0"/>
              <a:t>costs, whereas the market attempts to estimate </a:t>
            </a:r>
            <a:r>
              <a:rPr lang="en-US" b="1" dirty="0"/>
              <a:t>fair market </a:t>
            </a:r>
            <a:r>
              <a:rPr lang="en-US" dirty="0"/>
              <a:t>values</a:t>
            </a:r>
          </a:p>
          <a:p>
            <a:pPr lvl="1"/>
            <a:r>
              <a:rPr lang="en-US" dirty="0"/>
              <a:t>GAAP excludes resources that cannot be </a:t>
            </a:r>
            <a:r>
              <a:rPr lang="en-US" b="1" dirty="0"/>
              <a:t>reliably measured</a:t>
            </a:r>
          </a:p>
          <a:p>
            <a:pPr lvl="1"/>
            <a:r>
              <a:rPr lang="en-US" dirty="0"/>
              <a:t>GAAP does not consider </a:t>
            </a:r>
            <a:r>
              <a:rPr lang="en-US" b="1" dirty="0"/>
              <a:t>market differences </a:t>
            </a:r>
            <a:r>
              <a:rPr lang="en-US" dirty="0"/>
              <a:t>in which companies operate (competition and expected changes)</a:t>
            </a:r>
          </a:p>
          <a:p>
            <a:pPr lvl="1"/>
            <a:r>
              <a:rPr lang="en-US" dirty="0"/>
              <a:t>GAAP does not usually report </a:t>
            </a:r>
            <a:r>
              <a:rPr lang="en-US" b="1" dirty="0"/>
              <a:t>expected future performance</a:t>
            </a:r>
            <a:r>
              <a:rPr lang="en-US" dirty="0"/>
              <a:t>, where as that is what the market attempts to </a:t>
            </a:r>
            <a:r>
              <a:rPr lang="en-US" b="1" dirty="0"/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22499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43C5-D485-99EA-EF45-66A2FCE1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AABB-19FF-7089-C45B-DB0EBE7F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Retained earnings formula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B2635-2CB6-11B0-C080-4B330CBA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064" y="2006600"/>
            <a:ext cx="5797550" cy="36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34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25051-CD8E-CF49-D137-8CCE4028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F1A51DB-DD02-5EB4-9B23-CB18FC86C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6" y="601484"/>
            <a:ext cx="8534399" cy="1413758"/>
          </a:xfrm>
        </p:spPr>
        <p:txBody>
          <a:bodyPr anchor="b">
            <a:normAutofit fontScale="90000"/>
          </a:bodyPr>
          <a:lstStyle/>
          <a:p>
            <a:br>
              <a:rPr lang="en-US" sz="4400" dirty="0"/>
            </a:br>
            <a:r>
              <a:rPr lang="en-US" sz="4400" dirty="0"/>
              <a:t>Chapter 1 P1-13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A43BE-BB98-0F96-D9C8-D0F32EAA4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0" y="1796143"/>
            <a:ext cx="10915139" cy="16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92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9FAB-AC54-43DE-96F5-9D2FA1B1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en-US" sz="4000" dirty="0"/>
              <a:t>Income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EC964-7C59-41D4-BAE7-DAF956C81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612900"/>
            <a:ext cx="3384330" cy="46139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Reported over a period of time</a:t>
            </a:r>
          </a:p>
          <a:p>
            <a:pPr>
              <a:lnSpc>
                <a:spcPct val="100000"/>
              </a:lnSpc>
            </a:pPr>
            <a:r>
              <a:rPr lang="en-US" u="sng" dirty="0"/>
              <a:t>More Generally: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Revenue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-Cost of Goods Sold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=Gross Profit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-Other Expenses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=Net Income</a:t>
            </a:r>
          </a:p>
        </p:txBody>
      </p:sp>
      <p:pic>
        <p:nvPicPr>
          <p:cNvPr id="6" name="Picture 5" descr="Graphical user interface, text, application, letter&#10;&#10;Description automatically generated">
            <a:extLst>
              <a:ext uri="{FF2B5EF4-FFF2-40B4-BE49-F238E27FC236}">
                <a16:creationId xmlns:a16="http://schemas.microsoft.com/office/drawing/2014/main" id="{AFA3DE72-010F-6484-F697-C50E8B8FA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01" y="1739900"/>
            <a:ext cx="6788771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45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17841-96BD-7105-339F-118E6A07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2089-BBB9-877D-CE11-AD8C3CFC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to be an 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5131-E911-78A8-7DFE-171908B8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object must be an ASSET if…</a:t>
            </a:r>
          </a:p>
          <a:p>
            <a:r>
              <a:rPr lang="en-US" b="1" dirty="0"/>
              <a:t>It is owned </a:t>
            </a:r>
            <a:r>
              <a:rPr lang="en-US" dirty="0"/>
              <a:t>(or controlled) by the company</a:t>
            </a:r>
          </a:p>
          <a:p>
            <a:r>
              <a:rPr lang="en-US" dirty="0"/>
              <a:t>It confers expected </a:t>
            </a:r>
            <a:r>
              <a:rPr lang="en-US" b="1" dirty="0"/>
              <a:t>future economic benefits </a:t>
            </a:r>
            <a:r>
              <a:rPr lang="en-US" dirty="0"/>
              <a:t>that result from a past transaction or event</a:t>
            </a:r>
          </a:p>
        </p:txBody>
      </p:sp>
    </p:spTree>
    <p:extLst>
      <p:ext uri="{BB962C8B-B14F-4D97-AF65-F5344CB8AC3E}">
        <p14:creationId xmlns:p14="http://schemas.microsoft.com/office/powerpoint/2010/main" val="1360081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12DB-7938-222F-A0D1-E2535F7B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458E-51E7-E938-3152-11DE3319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versus expense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EE4EF-BFEE-F958-2185-456FF145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Understand: When a business spends money, it is not always immediately recorded as an expense on the income statement.</a:t>
            </a:r>
          </a:p>
          <a:p>
            <a:r>
              <a:rPr lang="en-US" dirty="0"/>
              <a:t>“How do we know if we should record spent money on the income statement?”</a:t>
            </a:r>
          </a:p>
          <a:p>
            <a:pPr lvl="1"/>
            <a:r>
              <a:rPr lang="en-US" dirty="0"/>
              <a:t>Does the purchase result in </a:t>
            </a:r>
            <a:r>
              <a:rPr lang="en-US" b="1" dirty="0"/>
              <a:t>immediate benefit </a:t>
            </a:r>
            <a:r>
              <a:rPr lang="en-US" dirty="0"/>
              <a:t>for the company?</a:t>
            </a:r>
          </a:p>
          <a:p>
            <a:pPr lvl="2"/>
            <a:r>
              <a:rPr lang="en-US" b="1" dirty="0"/>
              <a:t>Yes </a:t>
            </a:r>
            <a:r>
              <a:rPr lang="en-US" b="1" dirty="0">
                <a:sym typeface="Wingdings" panose="05000000000000000000" pitchFamily="2" charset="2"/>
              </a:rPr>
              <a:t> Expense </a:t>
            </a:r>
            <a:r>
              <a:rPr lang="en-US" dirty="0">
                <a:sym typeface="Wingdings" panose="05000000000000000000" pitchFamily="2" charset="2"/>
              </a:rPr>
              <a:t>on the Income Statement</a:t>
            </a:r>
          </a:p>
          <a:p>
            <a:pPr lvl="2"/>
            <a:r>
              <a:rPr lang="en-US" b="1" dirty="0">
                <a:sym typeface="Wingdings" panose="05000000000000000000" pitchFamily="2" charset="2"/>
              </a:rPr>
              <a:t>No,</a:t>
            </a:r>
            <a:r>
              <a:rPr lang="en-US" dirty="0">
                <a:sym typeface="Wingdings" panose="05000000000000000000" pitchFamily="2" charset="2"/>
              </a:rPr>
              <a:t> but it will result in future value  It is an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i="1" dirty="0">
                <a:sym typeface="Wingdings" panose="05000000000000000000" pitchFamily="2" charset="2"/>
              </a:rPr>
              <a:t>asset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dirty="0">
                <a:sym typeface="Wingdings" panose="05000000000000000000" pitchFamily="2" charset="2"/>
              </a:rPr>
              <a:t>and not to be recorded on the income statement </a:t>
            </a:r>
            <a:r>
              <a:rPr lang="en-US" i="1" dirty="0">
                <a:sym typeface="Wingdings" panose="05000000000000000000" pitchFamily="2" charset="2"/>
              </a:rPr>
              <a:t>yet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When will we record the expense for the asset</a:t>
            </a:r>
          </a:p>
          <a:p>
            <a:pPr lvl="2"/>
            <a:r>
              <a:rPr lang="en-US" b="1" dirty="0">
                <a:sym typeface="Wingdings" panose="05000000000000000000" pitchFamily="2" charset="2"/>
              </a:rPr>
              <a:t>When the asset has provided its benefit </a:t>
            </a:r>
            <a:r>
              <a:rPr lang="en-US" dirty="0">
                <a:sym typeface="Wingdings" panose="05000000000000000000" pitchFamily="2" charset="2"/>
              </a:rPr>
              <a:t>(it is used up!) 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Depreciation Expense, COGS after inventory is sold</a:t>
            </a:r>
          </a:p>
        </p:txBody>
      </p:sp>
    </p:spTree>
    <p:extLst>
      <p:ext uri="{BB962C8B-B14F-4D97-AF65-F5344CB8AC3E}">
        <p14:creationId xmlns:p14="http://schemas.microsoft.com/office/powerpoint/2010/main" val="3222778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0010-F8F8-4571-B2CC-1C63B100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488272" cy="1640894"/>
          </a:xfrm>
        </p:spPr>
        <p:txBody>
          <a:bodyPr anchor="t">
            <a:normAutofit/>
          </a:bodyPr>
          <a:lstStyle/>
          <a:p>
            <a:r>
              <a:rPr lang="en-US" sz="4000" dirty="0"/>
              <a:t>Statement of Stockholders’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3E6C4-C90B-48A7-957D-E572EBC45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3384330" cy="39408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Reports Year-Over-Year Changes on the Equity Accounts</a:t>
            </a:r>
          </a:p>
          <a:p>
            <a:r>
              <a:rPr lang="en-US" dirty="0"/>
              <a:t>Remember to Total the Rows AND the columns</a:t>
            </a:r>
          </a:p>
          <a:p>
            <a:r>
              <a:rPr lang="en-US" dirty="0"/>
              <a:t>Net Income comes from Income Statement</a:t>
            </a:r>
          </a:p>
          <a:p>
            <a:r>
              <a:rPr lang="en-US" dirty="0"/>
              <a:t>Stock Issuance and Dividends will come from transactions to the Balance Sheet</a:t>
            </a:r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DA33B7C1-08AD-45FE-B8ED-622A4263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244" y="1962909"/>
            <a:ext cx="6858909" cy="293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53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5CE7-92F0-4C4C-ADAC-6250D1CD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en-US" sz="4000"/>
              <a:t>Statement of cash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287A-554E-44FA-962E-7091DD59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736" y="2255117"/>
            <a:ext cx="3488272" cy="3940844"/>
          </a:xfrm>
        </p:spPr>
        <p:txBody>
          <a:bodyPr>
            <a:normAutofit/>
          </a:bodyPr>
          <a:lstStyle/>
          <a:p>
            <a:r>
              <a:rPr lang="en-US" dirty="0"/>
              <a:t>Report changes to a company’s cash balance over a year’s time</a:t>
            </a:r>
          </a:p>
          <a:p>
            <a:r>
              <a:rPr lang="en-US" dirty="0"/>
              <a:t>Listed in the order of Operating, Investing, and Financing</a:t>
            </a:r>
          </a:p>
          <a:p>
            <a:r>
              <a:rPr lang="en-US" b="1" dirty="0"/>
              <a:t>Cash Balances should match the beginning balance and ending balance of the cash account on the balance sheet</a:t>
            </a:r>
          </a:p>
          <a:p>
            <a:endParaRPr lang="en-US" dirty="0"/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E7A37E4F-A5D1-405F-A601-5B8E5638D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472" y="1765817"/>
            <a:ext cx="5995465" cy="3352627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FA083515-9F21-46BB-BBB5-B39C2EDE9C4D}"/>
              </a:ext>
            </a:extLst>
          </p:cNvPr>
          <p:cNvSpPr/>
          <p:nvPr/>
        </p:nvSpPr>
        <p:spPr>
          <a:xfrm>
            <a:off x="4422710" y="4366727"/>
            <a:ext cx="755780" cy="4945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12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3E56-579B-76B9-1F7F-3D0EF891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D7FD-816F-D569-3B67-C92212CD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cash flow activities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D216A-F537-B65E-D5B5-C0C411F90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Operating: </a:t>
            </a:r>
            <a:r>
              <a:rPr lang="en-US" sz="2800" dirty="0"/>
              <a:t>Cash flows from the company’s transactions and events relating to operations</a:t>
            </a:r>
          </a:p>
          <a:p>
            <a:pPr lvl="1"/>
            <a:r>
              <a:rPr lang="en-US" sz="2800" dirty="0"/>
              <a:t>Includes tax paid and interest paid </a:t>
            </a:r>
          </a:p>
          <a:p>
            <a:r>
              <a:rPr lang="en-US" sz="2800" b="1" dirty="0"/>
              <a:t>Investing: </a:t>
            </a:r>
            <a:r>
              <a:rPr lang="en-US" sz="2800" dirty="0"/>
              <a:t>Cash Flows from acquisitions, investments in marketable securities, and long-term assets</a:t>
            </a:r>
          </a:p>
          <a:p>
            <a:r>
              <a:rPr lang="en-US" sz="2800" b="1" dirty="0"/>
              <a:t>Financing: </a:t>
            </a:r>
            <a:r>
              <a:rPr lang="en-US" sz="2800" dirty="0"/>
              <a:t>Cash Flows from issuances of stock and payments towards borrowings and equity</a:t>
            </a:r>
          </a:p>
          <a:p>
            <a:pPr lvl="1"/>
            <a:r>
              <a:rPr lang="en-US" sz="2800" dirty="0"/>
              <a:t>Issuances of Dividends are financing expenses (not recorded on the income statement)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5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BB77E-7B12-7E1C-B85F-811D00EB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90A0920-8C52-5533-C056-B2374CF49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82385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Chapter1 SE 1-10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1DFA1A-DBD8-C239-3B09-46468397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28" y="1796143"/>
            <a:ext cx="9991343" cy="149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30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5BA9-97ED-44A2-BA17-1DBF0152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FE96-BC8C-472A-8C0A-47490ED5E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classify the following accounts?</a:t>
            </a:r>
          </a:p>
          <a:p>
            <a:pPr lvl="1"/>
            <a:r>
              <a:rPr lang="en-US" dirty="0"/>
              <a:t>Inventory</a:t>
            </a:r>
          </a:p>
          <a:p>
            <a:pPr lvl="1"/>
            <a:r>
              <a:rPr lang="en-US" dirty="0"/>
              <a:t>Cash</a:t>
            </a:r>
          </a:p>
          <a:p>
            <a:pPr lvl="1"/>
            <a:r>
              <a:rPr lang="en-US" dirty="0"/>
              <a:t>A loan to be repaid in ten years</a:t>
            </a:r>
          </a:p>
          <a:p>
            <a:pPr lvl="1"/>
            <a:r>
              <a:rPr lang="en-US" dirty="0"/>
              <a:t>A copy machine (Depreciation?) Money Spent on a copy machine?</a:t>
            </a:r>
          </a:p>
          <a:p>
            <a:pPr lvl="1"/>
            <a:r>
              <a:rPr lang="en-US" dirty="0"/>
              <a:t>Accounts Payable (Example?) </a:t>
            </a:r>
          </a:p>
          <a:p>
            <a:pPr lvl="1"/>
            <a:r>
              <a:rPr lang="en-US" dirty="0"/>
              <a:t>Accounts Receivable (Example?)</a:t>
            </a:r>
          </a:p>
          <a:p>
            <a:pPr marL="128016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32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A62D-9507-4C1F-BE0F-D1F8B375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the Financial Statements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ECA2E-B7D3-45FB-B7C6-7B314ABE3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create them, do it in this order:</a:t>
            </a:r>
          </a:p>
          <a:p>
            <a:pPr lvl="1"/>
            <a:r>
              <a:rPr lang="en-US" sz="2200" dirty="0"/>
              <a:t>Income Statement, Balance Sheet, Statement of Stockholders’ Equity, Statement of Cash Flows</a:t>
            </a:r>
          </a:p>
          <a:p>
            <a:r>
              <a:rPr lang="en-US" dirty="0"/>
              <a:t>Places to check your work</a:t>
            </a:r>
          </a:p>
          <a:p>
            <a:pPr lvl="1"/>
            <a:r>
              <a:rPr lang="en-US" sz="2200" dirty="0"/>
              <a:t>(BS): Total Assets = Total Liabilities + Total Equity</a:t>
            </a:r>
          </a:p>
          <a:p>
            <a:pPr lvl="1"/>
            <a:r>
              <a:rPr lang="en-US" sz="2200" dirty="0"/>
              <a:t>Total Stockholders’ Equity (BS) = Total of all columns (SSE)</a:t>
            </a:r>
          </a:p>
          <a:p>
            <a:pPr lvl="1"/>
            <a:r>
              <a:rPr lang="en-US" sz="2200" dirty="0"/>
              <a:t>Cash Account Balances (BS) = Cash Balances (SCF)</a:t>
            </a:r>
          </a:p>
          <a:p>
            <a:r>
              <a:rPr lang="en-US" b="1" dirty="0"/>
              <a:t>It sounds obvious, but remember, if they are not equal across statements, you probably added incorrectly somewhere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85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9526-F03F-4C29-9451-8A164457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of financial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28D0-B78A-4B61-BB3A-C0F484DAA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Managers and Employers</a:t>
            </a:r>
          </a:p>
          <a:p>
            <a:r>
              <a:rPr lang="en-US" dirty="0"/>
              <a:t>Investment Analysts and Information Intermediaries</a:t>
            </a:r>
          </a:p>
          <a:p>
            <a:r>
              <a:rPr lang="en-US" dirty="0"/>
              <a:t>Research Reports</a:t>
            </a:r>
          </a:p>
          <a:p>
            <a:r>
              <a:rPr lang="en-US" dirty="0"/>
              <a:t>Creditors and Suppliers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Need to know company’s current financial situation. Contributes to decisions on loaning goods or not</a:t>
            </a:r>
          </a:p>
          <a:p>
            <a:r>
              <a:rPr lang="en-US" dirty="0"/>
              <a:t>Stockholders and Directors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Also invested in company’s financial health. Helps drives stock prices, determine safety of investment</a:t>
            </a:r>
          </a:p>
        </p:txBody>
      </p:sp>
    </p:spTree>
    <p:extLst>
      <p:ext uri="{BB962C8B-B14F-4D97-AF65-F5344CB8AC3E}">
        <p14:creationId xmlns:p14="http://schemas.microsoft.com/office/powerpoint/2010/main" val="3812583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BEBC888-8F2E-4983-9F61-5F02BA91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526" y="855776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1 p1-9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FC645-188F-D979-8108-6FC09B63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26" y="1859024"/>
            <a:ext cx="9443086" cy="26602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14E9F7-11A1-F314-8592-4897BCB7F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26" y="4519225"/>
            <a:ext cx="9443086" cy="100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70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59E6-42DA-4F34-830C-3A4C0990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Standards and sec filings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E5CC8-F289-44EA-BB71-72CD1567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The set of American Accounting Standards are called…</a:t>
            </a:r>
          </a:p>
          <a:p>
            <a:r>
              <a:rPr lang="en-US" dirty="0"/>
              <a:t>What are the benefits of having such standards?</a:t>
            </a:r>
          </a:p>
          <a:p>
            <a:r>
              <a:rPr lang="en-US" dirty="0"/>
              <a:t>Public Companies must publish unaudited quarterly reports with summary versions the four financial statements called…</a:t>
            </a:r>
          </a:p>
          <a:p>
            <a:r>
              <a:rPr lang="en-US" dirty="0"/>
              <a:t>Annually, they must publish audited versions of the entirety of the 4 financial statements with explanatory notes called…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309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E41B-9A11-4D52-BC06-9DC53655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Audit Opinion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78C3-E8DB-4C97-809A-C13C8791E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audit report is not a guarantee that no misstatements exist. </a:t>
            </a:r>
          </a:p>
          <a:p>
            <a:r>
              <a:rPr lang="en-US" dirty="0"/>
              <a:t>Auditors only provide reasonable assurance that the statements are free of material misstatements</a:t>
            </a:r>
          </a:p>
          <a:p>
            <a:pPr lvl="1"/>
            <a:r>
              <a:rPr lang="en-US" dirty="0"/>
              <a:t>Reasonable: not held to an absolute standard if problems are uncovered</a:t>
            </a:r>
          </a:p>
          <a:p>
            <a:pPr lvl="1"/>
            <a:r>
              <a:rPr lang="en-US" dirty="0"/>
              <a:t>Material: item must be of sufficient magnitude (such as a decision to purchase stock or extend credit)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52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3976-72B4-7EC0-A8CC-70DD4C4E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07EE-34A6-54C5-0E8D-485B7814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Ratio Analysis Categories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85396E-A06B-E609-042F-740694F9E59E}"/>
              </a:ext>
            </a:extLst>
          </p:cNvPr>
          <p:cNvSpPr txBox="1">
            <a:spLocks/>
          </p:cNvSpPr>
          <p:nvPr/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w Cen MT" panose="020B0602020104020603" pitchFamily="34" charset="0"/>
              <a:buNone/>
            </a:pPr>
            <a:r>
              <a:rPr lang="en-US" b="1" dirty="0"/>
              <a:t>Liquidity</a:t>
            </a:r>
            <a:r>
              <a:rPr lang="en-US" dirty="0"/>
              <a:t>: Ability for a company to pay its short-term obligations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Current Ratio: Current Assets/Current Liabilities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b="1" dirty="0"/>
              <a:t>Solvency</a:t>
            </a:r>
            <a:r>
              <a:rPr lang="en-US" dirty="0"/>
              <a:t>: Ability for a company to pay its long-term financial obligations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Debt to Assets: Debts/Assets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b="1" dirty="0"/>
              <a:t>Profitability</a:t>
            </a:r>
            <a:r>
              <a:rPr lang="en-US" dirty="0"/>
              <a:t>: Analysis of a company’s profit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Profit Margin: Net Income / Net Sales</a:t>
            </a:r>
          </a:p>
          <a:p>
            <a:pPr marL="128016" lvl="1" indent="0">
              <a:buNone/>
            </a:pPr>
            <a:endParaRPr lang="en-US" sz="2200" dirty="0"/>
          </a:p>
          <a:p>
            <a:pPr marL="12801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897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26E82-D9B7-4F51-BBA1-5596423E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Chapter 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88E04-E9BA-43D0-BD4E-DC5CD953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Accounting cycle steps</a:t>
            </a:r>
          </a:p>
          <a:p>
            <a:r>
              <a:rPr lang="en-US" dirty="0"/>
              <a:t>Permanent vs temporary accounts </a:t>
            </a:r>
          </a:p>
          <a:p>
            <a:r>
              <a:rPr lang="en-US" dirty="0"/>
              <a:t>Accounting terms: Account, element, financial statement line, general ledger, source document</a:t>
            </a:r>
          </a:p>
        </p:txBody>
      </p:sp>
    </p:spTree>
    <p:extLst>
      <p:ext uri="{BB962C8B-B14F-4D97-AF65-F5344CB8AC3E}">
        <p14:creationId xmlns:p14="http://schemas.microsoft.com/office/powerpoint/2010/main" val="1063079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55CE-76F8-849F-490E-8A328FCD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8AE8-BC53-7594-8C4F-8E7F64A3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D31A-F892-AB55-2D70-BB36F2F5A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Account – </a:t>
            </a:r>
            <a:r>
              <a:rPr lang="en-US" dirty="0"/>
              <a:t>a record of the increases and decreases in a specific asset, liability, or equity item</a:t>
            </a:r>
            <a:endParaRPr lang="en-US" b="1" dirty="0"/>
          </a:p>
          <a:p>
            <a:r>
              <a:rPr lang="en-US" b="1" dirty="0"/>
              <a:t>Element – </a:t>
            </a:r>
            <a:r>
              <a:rPr lang="en-US" dirty="0"/>
              <a:t>One of the three elements of the accounting equation (assets, liabilities or equity)</a:t>
            </a:r>
            <a:endParaRPr lang="en-US" b="1" dirty="0"/>
          </a:p>
          <a:p>
            <a:r>
              <a:rPr lang="en-US" b="1" dirty="0"/>
              <a:t>Source Document – </a:t>
            </a:r>
            <a:r>
              <a:rPr lang="en-US" dirty="0"/>
              <a:t>records that are generated when a firm engages in a business transaction </a:t>
            </a:r>
            <a:endParaRPr lang="en-US" b="1" dirty="0"/>
          </a:p>
          <a:p>
            <a:r>
              <a:rPr lang="en-US" b="1" dirty="0"/>
              <a:t>Chart of Accounts – </a:t>
            </a:r>
            <a:r>
              <a:rPr lang="en-US" dirty="0"/>
              <a:t>all the account titles in a business’ accounting system</a:t>
            </a:r>
            <a:endParaRPr lang="en-US" b="1" dirty="0"/>
          </a:p>
          <a:p>
            <a:r>
              <a:rPr lang="en-US" b="1" dirty="0"/>
              <a:t>General Ledger – </a:t>
            </a:r>
            <a:r>
              <a:rPr lang="en-US" dirty="0"/>
              <a:t>listing of each of a business’ accounts and amounts from all transactions recorded during a period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46045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4785-9584-4A7D-9AF6-4C10A38D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cycle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1F67-3B73-409D-886C-B6766E94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1: </a:t>
            </a:r>
            <a:r>
              <a:rPr lang="en-US" dirty="0"/>
              <a:t>Analyze transactions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Make sure that your transaction will </a:t>
            </a:r>
            <a:r>
              <a:rPr lang="en-US" b="1" dirty="0"/>
              <a:t>balance </a:t>
            </a:r>
            <a:r>
              <a:rPr lang="en-US" dirty="0"/>
              <a:t>on the balance sheet. </a:t>
            </a:r>
          </a:p>
          <a:p>
            <a:r>
              <a:rPr lang="en-US" b="1" dirty="0"/>
              <a:t>STEP 2: </a:t>
            </a:r>
            <a:r>
              <a:rPr lang="en-US" dirty="0"/>
              <a:t>Record transactions in the accounting records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A transaction will impact the cash flow statement </a:t>
            </a:r>
            <a:r>
              <a:rPr lang="en-US" dirty="0" err="1"/>
              <a:t>iff</a:t>
            </a:r>
            <a:r>
              <a:rPr lang="en-US" dirty="0"/>
              <a:t> it impacts cash on the balance sheet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Any transaction that increases/decreases net income impacts retained earnings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Dividends impact retained earnings, but not the income statement  </a:t>
            </a:r>
          </a:p>
          <a:p>
            <a:r>
              <a:rPr lang="en-US" b="1" dirty="0"/>
              <a:t>STEP 3: </a:t>
            </a:r>
            <a:r>
              <a:rPr lang="en-US" dirty="0"/>
              <a:t>Adjust transactions. This will </a:t>
            </a:r>
            <a:r>
              <a:rPr lang="en-US" b="1" dirty="0"/>
              <a:t>never </a:t>
            </a:r>
            <a:r>
              <a:rPr lang="en-US" dirty="0"/>
              <a:t>impact cash.</a:t>
            </a:r>
            <a:endParaRPr lang="en-US" b="1" dirty="0"/>
          </a:p>
          <a:p>
            <a:r>
              <a:rPr lang="en-US" b="1" dirty="0"/>
              <a:t>STEP 4: </a:t>
            </a:r>
            <a:r>
              <a:rPr lang="en-US" dirty="0"/>
              <a:t>Prepare Financial Statements (income Statement -&gt; Balance Sheet -&gt; Statement of Stockholders’ Equity -&gt; Statement of Cash Flows)</a:t>
            </a:r>
          </a:p>
          <a:p>
            <a:r>
              <a:rPr lang="en-US" b="1" dirty="0"/>
              <a:t>STEP 5: </a:t>
            </a:r>
            <a:r>
              <a:rPr lang="en-US" dirty="0"/>
              <a:t>Close the temporary accounts in anticipation of the start of a new accounting cycle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09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FB282-977E-5A94-77D8-2F0CB702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7678-3F9F-B063-0195-265F15C5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Permanent vs temporary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9BD5-BC23-C788-F0B3-018E4C5AC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Temporary Accounts</a:t>
            </a:r>
          </a:p>
          <a:p>
            <a:pPr lvl="1"/>
            <a:r>
              <a:rPr lang="en-US" sz="2200" dirty="0"/>
              <a:t>Balances are </a:t>
            </a:r>
            <a:r>
              <a:rPr lang="en-US" sz="2200" b="1" dirty="0"/>
              <a:t>zero</a:t>
            </a:r>
            <a:r>
              <a:rPr lang="en-US" sz="2200" dirty="0"/>
              <a:t> at the start of each accounting period</a:t>
            </a:r>
          </a:p>
          <a:p>
            <a:pPr lvl="1"/>
            <a:r>
              <a:rPr lang="en-US" sz="2200" dirty="0"/>
              <a:t>Income statement (revenues and expenses) and the dividend account</a:t>
            </a:r>
          </a:p>
          <a:p>
            <a:r>
              <a:rPr lang="en-US" dirty="0"/>
              <a:t>Permanent Account</a:t>
            </a:r>
          </a:p>
          <a:p>
            <a:pPr lvl="1"/>
            <a:r>
              <a:rPr lang="en-US" sz="2200" dirty="0"/>
              <a:t>Accounts </a:t>
            </a:r>
            <a:r>
              <a:rPr lang="en-US" sz="2200" b="1" dirty="0"/>
              <a:t>carry over </a:t>
            </a:r>
            <a:r>
              <a:rPr lang="en-US" sz="2200" dirty="0"/>
              <a:t>from period to period</a:t>
            </a:r>
          </a:p>
          <a:p>
            <a:pPr lvl="1"/>
            <a:r>
              <a:rPr lang="en-US" sz="2200" dirty="0"/>
              <a:t>Balance sheet</a:t>
            </a:r>
          </a:p>
        </p:txBody>
      </p:sp>
    </p:spTree>
    <p:extLst>
      <p:ext uri="{BB962C8B-B14F-4D97-AF65-F5344CB8AC3E}">
        <p14:creationId xmlns:p14="http://schemas.microsoft.com/office/powerpoint/2010/main" val="1820335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BEBC888-8F2E-4983-9F61-5F02BA91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655" y="821297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2 SE2-2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2F372-82D5-5C7D-7E8A-1521ABA0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55" y="1921482"/>
            <a:ext cx="10584719" cy="157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77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BEBC888-8F2E-4983-9F61-5F02BA91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32008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2 e2-6	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E0A1B-E8D0-6A7A-2B02-3D12A469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42765"/>
            <a:ext cx="7772400" cy="357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78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BEBC888-8F2E-4983-9F61-5F02BA91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382385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2 P2-5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BF82-3080-4E11-96D1-95132D665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FAAE6B-F9BA-FB3A-D2F0-CE90E56AE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69" y="1806709"/>
            <a:ext cx="11064440" cy="207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60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2E9BF-8C3E-4DE4-A40B-4EAD6BBD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Chapter 3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1E155-6DDA-429F-9F88-28419104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Accrual accounting</a:t>
            </a:r>
          </a:p>
          <a:p>
            <a:r>
              <a:rPr lang="en-US" dirty="0"/>
              <a:t>Revenue recognition principle</a:t>
            </a:r>
          </a:p>
          <a:p>
            <a:r>
              <a:rPr lang="en-US" dirty="0"/>
              <a:t>Expense recognition principle</a:t>
            </a:r>
          </a:p>
          <a:p>
            <a:r>
              <a:rPr lang="en-US" dirty="0"/>
              <a:t>Quality of earnings </a:t>
            </a:r>
          </a:p>
          <a:p>
            <a:r>
              <a:rPr lang="en-US" dirty="0"/>
              <a:t>What is a trial balance </a:t>
            </a:r>
          </a:p>
          <a:p>
            <a:r>
              <a:rPr lang="en-US" dirty="0"/>
              <a:t>Debits &amp; Credits – (multiple choice only) </a:t>
            </a:r>
          </a:p>
          <a:p>
            <a:r>
              <a:rPr lang="en-US" dirty="0"/>
              <a:t>Record transactions – financial statement effects (workout problem) </a:t>
            </a:r>
          </a:p>
          <a:p>
            <a:pPr lvl="1"/>
            <a:r>
              <a:rPr lang="en-US" dirty="0"/>
              <a:t>Must know balance sheet, income statement, and cash flow impact </a:t>
            </a:r>
          </a:p>
          <a:p>
            <a:r>
              <a:rPr lang="en-US" dirty="0"/>
              <a:t>Adjusting entries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Must know balance sheet, income statement, and cash flow impact </a:t>
            </a:r>
          </a:p>
          <a:p>
            <a:r>
              <a:rPr lang="en-US" dirty="0"/>
              <a:t>Closing entries – debit/credits (multiple choice only) </a:t>
            </a:r>
          </a:p>
        </p:txBody>
      </p:sp>
    </p:spTree>
    <p:extLst>
      <p:ext uri="{BB962C8B-B14F-4D97-AF65-F5344CB8AC3E}">
        <p14:creationId xmlns:p14="http://schemas.microsoft.com/office/powerpoint/2010/main" val="861350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9F79-549C-8F30-FB74-CA6783BC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524D-BB2D-AE8E-603E-32B6F5F9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Accrual Accounting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234FE-8B28-060E-8DE5-578676659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accounting method where revenues/expenses are recorded when a transaction occurs</a:t>
            </a:r>
          </a:p>
          <a:p>
            <a:r>
              <a:rPr lang="en-US" dirty="0"/>
              <a:t>Requires adjustments to be made to reconcile current status of the balance sheet </a:t>
            </a:r>
          </a:p>
        </p:txBody>
      </p:sp>
    </p:spTree>
    <p:extLst>
      <p:ext uri="{BB962C8B-B14F-4D97-AF65-F5344CB8AC3E}">
        <p14:creationId xmlns:p14="http://schemas.microsoft.com/office/powerpoint/2010/main" val="162253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008F-6D08-FE56-EB44-70610357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1692-96DF-0EF5-DA54-95DD89E8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recognition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A0097-02F1-AAB3-302E-2213287DA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Recognize revenues for goods and </a:t>
            </a:r>
            <a:r>
              <a:rPr lang="en-US" b="1" dirty="0"/>
              <a:t>services provided</a:t>
            </a:r>
            <a:r>
              <a:rPr lang="en-US" dirty="0"/>
              <a:t> to customers at an amount expected to be received </a:t>
            </a:r>
          </a:p>
          <a:p>
            <a:pPr lvl="1"/>
            <a:r>
              <a:rPr lang="en-US" sz="2200" dirty="0"/>
              <a:t>This may be before the company actually receives the cash, i.e., when they bill a customer for a service or good, they recognize the income at that time</a:t>
            </a:r>
          </a:p>
          <a:p>
            <a:pPr lvl="1"/>
            <a:r>
              <a:rPr lang="en-US" sz="2200" dirty="0"/>
              <a:t>Must be at the time that, or after, the </a:t>
            </a:r>
            <a:r>
              <a:rPr lang="en-US" sz="2200" b="1" dirty="0"/>
              <a:t>company satisfies the obligation </a:t>
            </a:r>
            <a:r>
              <a:rPr lang="en-US" sz="2200" dirty="0"/>
              <a:t>by delivering the good(s) or service(s)</a:t>
            </a:r>
          </a:p>
          <a:p>
            <a:pPr lvl="1"/>
            <a:endParaRPr lang="en-US" sz="2200" dirty="0"/>
          </a:p>
          <a:p>
            <a:pPr marL="128016" lvl="1" indent="0">
              <a:buNone/>
            </a:pPr>
            <a:r>
              <a:rPr lang="en-US" sz="2200" b="1" dirty="0"/>
              <a:t>Revenue Related Accounts: </a:t>
            </a:r>
            <a:r>
              <a:rPr lang="en-US" sz="2200" dirty="0"/>
              <a:t>Cash, Unearned Revenue, Accounts </a:t>
            </a:r>
            <a:r>
              <a:rPr lang="en-US" sz="2200" dirty="0" err="1"/>
              <a:t>Recievable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996037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B51E-BA86-77E5-E2C5-E241FB8B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9A70-E8E5-A9F6-5772-85AE8490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expense recognition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01F2-FC4B-B0C6-B671-2314C87D6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Expenses shall be recognized when they are </a:t>
            </a:r>
            <a:r>
              <a:rPr lang="en-US" b="1" i="1" dirty="0"/>
              <a:t>incurred</a:t>
            </a:r>
            <a:r>
              <a:rPr lang="en-US" b="1" dirty="0"/>
              <a:t> </a:t>
            </a:r>
          </a:p>
          <a:p>
            <a:pPr lvl="1"/>
            <a:r>
              <a:rPr lang="en-US" sz="2200" dirty="0"/>
              <a:t>This may be before the expense is actually paid for (cash exchanges hands)</a:t>
            </a:r>
          </a:p>
          <a:p>
            <a:pPr lvl="1"/>
            <a:endParaRPr lang="en-US" sz="2200" dirty="0"/>
          </a:p>
          <a:p>
            <a:pPr marL="128016" lvl="1" indent="0">
              <a:buNone/>
            </a:pPr>
            <a:r>
              <a:rPr lang="en-US" sz="2200" b="1" dirty="0"/>
              <a:t>Expense Related Accounts: </a:t>
            </a:r>
            <a:r>
              <a:rPr lang="en-US" sz="2200" dirty="0"/>
              <a:t>Prepaid Expense, Supplies, PPE, Accounts Payable (or any ___ Payable), Cash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027021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B2EE-D839-35FC-E1E6-BDB4A05E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FF4D-8CE4-4DEB-5D18-C03F809D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of 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E8A2-7531-A9FC-4206-C2BB57510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well a company’s earnings report represents its underlying financial performance. Especially in regard to adjustments.</a:t>
            </a:r>
          </a:p>
          <a:p>
            <a:r>
              <a:rPr lang="en-US" b="1" dirty="0"/>
              <a:t>Good QOE: </a:t>
            </a:r>
            <a:r>
              <a:rPr lang="en-US" dirty="0"/>
              <a:t>Adjustments accurately reflect the companies financial health</a:t>
            </a:r>
          </a:p>
          <a:p>
            <a:r>
              <a:rPr lang="en-US" b="1" dirty="0"/>
              <a:t>Conservative QOE: </a:t>
            </a:r>
            <a:r>
              <a:rPr lang="en-US" dirty="0"/>
              <a:t>Adjustments are pessimistic, leading to lower net income + assets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Generally preferred by investors, since these will remain consistent YoY</a:t>
            </a:r>
            <a:endParaRPr lang="en-US" b="1" dirty="0"/>
          </a:p>
          <a:p>
            <a:pPr marL="128016" lvl="1" indent="0">
              <a:buNone/>
            </a:pPr>
            <a:r>
              <a:rPr lang="en-US" sz="2200" dirty="0"/>
              <a:t>Ways to measure QOE</a:t>
            </a:r>
          </a:p>
          <a:p>
            <a:pPr marL="768096" lvl="2" indent="-457200">
              <a:buFont typeface="+mj-lt"/>
              <a:buAutoNum type="arabicPeriod"/>
            </a:pPr>
            <a:r>
              <a:rPr lang="en-US" sz="1800" dirty="0"/>
              <a:t>Financial Statement Transaction Model</a:t>
            </a:r>
          </a:p>
          <a:p>
            <a:pPr marL="768096" lvl="2" indent="-457200">
              <a:buFont typeface="+mj-lt"/>
              <a:buAutoNum type="arabicPeriod"/>
            </a:pPr>
            <a:r>
              <a:rPr lang="en-US" sz="1800" dirty="0"/>
              <a:t>T-Accounts</a:t>
            </a:r>
          </a:p>
          <a:p>
            <a:pPr marL="768096" lvl="2" indent="-457200">
              <a:buFont typeface="+mj-lt"/>
              <a:buAutoNum type="arabicPeriod"/>
            </a:pPr>
            <a:r>
              <a:rPr lang="en-US" sz="1800" dirty="0"/>
              <a:t>Journal Entries</a:t>
            </a:r>
          </a:p>
        </p:txBody>
      </p:sp>
    </p:spTree>
    <p:extLst>
      <p:ext uri="{BB962C8B-B14F-4D97-AF65-F5344CB8AC3E}">
        <p14:creationId xmlns:p14="http://schemas.microsoft.com/office/powerpoint/2010/main" val="36826727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6BE79-E72A-1D26-47DF-26AC06533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0531-FE94-5A42-6DE2-BFE393C3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29FD-41DE-F934-CA12-FBDC158FA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3243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Prepaid Expenses</a:t>
            </a:r>
          </a:p>
          <a:p>
            <a:pPr lvl="1"/>
            <a:r>
              <a:rPr lang="en-US" dirty="0"/>
              <a:t>Cash is paid before expenses are recognized</a:t>
            </a:r>
          </a:p>
          <a:p>
            <a:pPr lvl="1"/>
            <a:r>
              <a:rPr lang="en-US" dirty="0"/>
              <a:t>Insurance, rent</a:t>
            </a:r>
          </a:p>
          <a:p>
            <a:r>
              <a:rPr lang="en-US" dirty="0"/>
              <a:t>Unearned Revenues</a:t>
            </a:r>
          </a:p>
          <a:p>
            <a:pPr lvl="1"/>
            <a:r>
              <a:rPr lang="en-US" dirty="0"/>
              <a:t>Cash is received before the revenues area recognized</a:t>
            </a:r>
          </a:p>
          <a:p>
            <a:pPr lvl="1"/>
            <a:r>
              <a:rPr lang="en-US" dirty="0"/>
              <a:t>Girl Scout sold cookies and collected cash before she delivers them</a:t>
            </a:r>
          </a:p>
          <a:p>
            <a:r>
              <a:rPr lang="en-US" dirty="0"/>
              <a:t>Accrued Expenses</a:t>
            </a:r>
          </a:p>
          <a:p>
            <a:pPr lvl="1"/>
            <a:r>
              <a:rPr lang="en-US" dirty="0"/>
              <a:t>Cash is paid after the expense is recognized</a:t>
            </a:r>
          </a:p>
          <a:p>
            <a:pPr lvl="1"/>
            <a:r>
              <a:rPr lang="en-US" dirty="0"/>
              <a:t>Paying a Credit Card bill</a:t>
            </a:r>
          </a:p>
          <a:p>
            <a:r>
              <a:rPr lang="en-US" dirty="0"/>
              <a:t>Accrued Revenues</a:t>
            </a:r>
          </a:p>
          <a:p>
            <a:pPr lvl="1"/>
            <a:r>
              <a:rPr lang="en-US" dirty="0"/>
              <a:t>Cash is received after the revenue is recognized</a:t>
            </a:r>
          </a:p>
          <a:p>
            <a:pPr lvl="1"/>
            <a:r>
              <a:rPr lang="en-US" dirty="0"/>
              <a:t>You worked ten hours last week, but you will not be paid until next week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90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0F039-226C-2B18-A167-CA28526F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27DF6-0D5E-3205-9494-F29DE5B4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Prepaid expenses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18C2E5-B8D8-66DC-03D8-BB78A51E9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3515" y="2276797"/>
            <a:ext cx="10824970" cy="280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95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F93A-AB1D-65E1-3878-A3409510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8C25-3C7F-90A7-A755-8435A3C4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Unearned Revenues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D58F6D-A0C6-C919-573E-C10EF7D26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1678" y="1672113"/>
            <a:ext cx="10390952" cy="2278073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69E0D0C-B97C-7CE8-9454-AEE5B0EE1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678" y="4046850"/>
            <a:ext cx="10390952" cy="28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49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3CEE8-9F9C-6F43-12FB-F97DE443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0F85-D145-EE58-404E-5F6C33C7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accrued expenses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8303FD-38AD-0230-C620-6293D04C1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1678" y="1600200"/>
            <a:ext cx="9895920" cy="2992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78ABFE-2CC0-5826-0AA1-40552FE77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678" y="4810125"/>
            <a:ext cx="9895920" cy="188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909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73B4-5AE2-5D50-E3E9-A0DD1EA6C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7E54-B889-2CE8-2DEC-F7A99009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accrued revenues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CCEE26-647D-AAF2-F121-C1860B9A6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833" y="2405226"/>
            <a:ext cx="11028334" cy="278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73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71979-9C4D-06BD-9956-E447AA52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86A90B3-D99B-FA3B-EF84-DD9E2611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65" y="839585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3 Q3-5	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9733C-317D-2E64-FDF2-F6C7685D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65" y="1796143"/>
            <a:ext cx="10290466" cy="229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5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5E3D3-9BC1-2008-A4ED-59A043DE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70EA195-15F2-AD1D-0758-570B6B22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717" y="896253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3 Se3-5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A26876-3312-FD10-024A-C5C8D6DE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717" y="1796142"/>
            <a:ext cx="10485717" cy="102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29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E8CA1-2929-1C83-D8D2-4FCC9547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8899D87-6943-8A8C-717F-2F41C41B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3 P3-6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A09F6-8ACD-3B58-194A-80B06732C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4" y="1796143"/>
            <a:ext cx="9819913" cy="38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386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08B9-CFD8-0268-2137-F1879DD3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C71D-AD78-B1CD-CFED-763EA657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Debits and Credits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DB27-7D62-9E93-5B5A-B5D039BA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834743" cy="3433156"/>
          </a:xfrm>
        </p:spPr>
        <p:txBody>
          <a:bodyPr>
            <a:normAutofit/>
          </a:bodyPr>
          <a:lstStyle/>
          <a:p>
            <a:r>
              <a:rPr lang="en-US" b="1" dirty="0"/>
              <a:t>D</a:t>
            </a:r>
            <a:r>
              <a:rPr lang="en-US" dirty="0"/>
              <a:t>ividends, </a:t>
            </a:r>
            <a:r>
              <a:rPr lang="en-US" b="1" dirty="0"/>
              <a:t>E</a:t>
            </a:r>
            <a:r>
              <a:rPr lang="en-US" dirty="0"/>
              <a:t>xpenses, </a:t>
            </a:r>
            <a:r>
              <a:rPr lang="en-US" b="1" dirty="0"/>
              <a:t>A</a:t>
            </a:r>
            <a:r>
              <a:rPr lang="en-US" dirty="0"/>
              <a:t>ssets</a:t>
            </a:r>
            <a:endParaRPr lang="en-US" b="1" dirty="0"/>
          </a:p>
          <a:p>
            <a:pPr lvl="1"/>
            <a:r>
              <a:rPr lang="en-US" sz="2200" dirty="0"/>
              <a:t>Debit = Increase</a:t>
            </a:r>
          </a:p>
          <a:p>
            <a:pPr lvl="1"/>
            <a:r>
              <a:rPr lang="en-US" sz="2200" dirty="0"/>
              <a:t>Credit = Decrease</a:t>
            </a:r>
          </a:p>
          <a:p>
            <a:r>
              <a:rPr lang="en-US" b="1" dirty="0"/>
              <a:t>L</a:t>
            </a:r>
            <a:r>
              <a:rPr lang="en-US" dirty="0"/>
              <a:t>iabilities, </a:t>
            </a:r>
            <a:r>
              <a:rPr lang="en-US" b="1" dirty="0"/>
              <a:t>E</a:t>
            </a:r>
            <a:r>
              <a:rPr lang="en-US" dirty="0"/>
              <a:t>quity, </a:t>
            </a:r>
            <a:r>
              <a:rPr lang="en-US" b="1" dirty="0"/>
              <a:t>R</a:t>
            </a:r>
            <a:r>
              <a:rPr lang="en-US" dirty="0"/>
              <a:t>evenue</a:t>
            </a:r>
            <a:endParaRPr lang="en-US" b="1" dirty="0"/>
          </a:p>
          <a:p>
            <a:pPr lvl="1"/>
            <a:r>
              <a:rPr lang="en-US" sz="2200" dirty="0"/>
              <a:t>Debit = Decrease</a:t>
            </a:r>
          </a:p>
          <a:p>
            <a:pPr lvl="1"/>
            <a:r>
              <a:rPr lang="en-US" sz="2200" dirty="0"/>
              <a:t>Credit = Increase</a:t>
            </a:r>
          </a:p>
          <a:p>
            <a:pPr marL="128016" lvl="1" indent="0">
              <a:buNone/>
            </a:pPr>
            <a:endParaRPr lang="en-US" sz="2200" dirty="0"/>
          </a:p>
          <a:p>
            <a:pPr marL="128016" lvl="1" indent="0">
              <a:buNone/>
            </a:pPr>
            <a:r>
              <a:rPr lang="en-US" sz="2200" b="1" dirty="0"/>
              <a:t>Normal </a:t>
            </a:r>
            <a:r>
              <a:rPr lang="en-US" sz="2200" dirty="0"/>
              <a:t>balance is side you increase 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424B3-33EF-75BA-26AC-74A68508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366" y="848631"/>
            <a:ext cx="4184750" cy="1790009"/>
          </a:xfrm>
          <a:prstGeom prst="rect">
            <a:avLst/>
          </a:prstGeom>
        </p:spPr>
      </p:pic>
      <p:pic>
        <p:nvPicPr>
          <p:cNvPr id="1026" name="Picture 2" descr="Debits and Credits Explained: An Illustrated Guide | Finally Learn">
            <a:extLst>
              <a:ext uri="{FF2B5EF4-FFF2-40B4-BE49-F238E27FC236}">
                <a16:creationId xmlns:a16="http://schemas.microsoft.com/office/drawing/2014/main" id="{E9DE1BFA-07D8-B756-3480-0BF21E12B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377" y="2902055"/>
            <a:ext cx="6323377" cy="259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164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C9E7-9B0D-F279-893F-AFC5FFB2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11CE-BCFF-E467-A58F-DBDECB2FB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6FA76-CA22-3A99-17D8-87F3B827E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545399" cy="4023360"/>
          </a:xfrm>
        </p:spPr>
        <p:txBody>
          <a:bodyPr/>
          <a:lstStyle/>
          <a:p>
            <a:r>
              <a:rPr lang="en-US" dirty="0"/>
              <a:t>A listing of all general ledger accounts and their respective credits and debit balances</a:t>
            </a:r>
          </a:p>
          <a:p>
            <a:r>
              <a:rPr lang="en-US" dirty="0"/>
              <a:t>Prepared at the end of an accounting period after all transactions are recorded</a:t>
            </a:r>
          </a:p>
          <a:p>
            <a:r>
              <a:rPr lang="en-US" dirty="0"/>
              <a:t>amount of debits = amount of credits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CAED1-67DC-954E-A056-43D23D4C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60396"/>
            <a:ext cx="5283708" cy="30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0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3488-9050-2210-846F-BFDECFEA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4E94-B504-3A33-9064-5B9D903B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9D819-2ECE-6454-A983-7801EF2CF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777647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**Close INCOME STATEMENT accounts (Sales/Revenue, COGS, expenses, dividends)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Move Net Sales to Retained Earnings</a:t>
            </a:r>
          </a:p>
          <a:p>
            <a:pPr marL="0" indent="0">
              <a:buNone/>
            </a:pPr>
            <a:r>
              <a:rPr lang="en-US" dirty="0"/>
              <a:t>Move Money from Retained Earnings to cover losses and expenses</a:t>
            </a:r>
          </a:p>
          <a:p>
            <a:pPr marL="0" indent="0">
              <a:buNone/>
            </a:pPr>
            <a:r>
              <a:rPr lang="en-US" dirty="0"/>
              <a:t>Move Money from retained earnings to cover dividends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27F6C-06E3-1775-C1B7-0CA5F4A03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608" y="822746"/>
            <a:ext cx="4214916" cy="85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5EAF4-5D5A-860B-6F2F-B3D4EC125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608" y="1874517"/>
            <a:ext cx="4197714" cy="3370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64213-7E98-B4FE-C0A6-EE616141E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608" y="5442950"/>
            <a:ext cx="4197714" cy="90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74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CC4A9-0F87-229F-4151-394BED1A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C601A65-7FC0-0057-01B1-4006AF89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Appendix C Ec-1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59AE2B-6AF5-4629-A9A3-8439D3220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3" y="1927892"/>
            <a:ext cx="9890559" cy="355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891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BF480-5DEC-F08B-BBB4-FB6D7ED0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2423778-34EB-2261-AAB2-63D8C5B76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Appendix C Ec-3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F0CCF-63E4-A9C0-95EF-AD885D1CA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4" y="1886529"/>
            <a:ext cx="9663974" cy="6146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44F6A5-E21F-A5E9-134D-C67C2788C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204" y="2447364"/>
            <a:ext cx="9663974" cy="32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702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5BF73-D070-49F9-AE9E-5D32E2D5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Chapter 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DAA12-9E19-42ED-A82C-2E743ECBC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Autofit/>
          </a:bodyPr>
          <a:lstStyle/>
          <a:p>
            <a:r>
              <a:rPr lang="en-US" dirty="0"/>
              <a:t>Fraud </a:t>
            </a:r>
          </a:p>
          <a:p>
            <a:r>
              <a:rPr lang="en-US" dirty="0"/>
              <a:t>Fraud triangle </a:t>
            </a:r>
          </a:p>
          <a:p>
            <a:r>
              <a:rPr lang="en-US" dirty="0"/>
              <a:t>Internal controls </a:t>
            </a:r>
          </a:p>
          <a:p>
            <a:r>
              <a:rPr lang="en-US" dirty="0"/>
              <a:t>COSO framework </a:t>
            </a:r>
          </a:p>
          <a:p>
            <a:r>
              <a:rPr lang="en-US" dirty="0"/>
              <a:t>Audit opinion related to internal controls </a:t>
            </a:r>
          </a:p>
          <a:p>
            <a:r>
              <a:rPr lang="en-US" dirty="0"/>
              <a:t>PCAOB </a:t>
            </a:r>
          </a:p>
          <a:p>
            <a:r>
              <a:rPr lang="en-US" dirty="0"/>
              <a:t>What is considered cash </a:t>
            </a:r>
          </a:p>
          <a:p>
            <a:r>
              <a:rPr lang="en-US" dirty="0"/>
              <a:t>Good cash controls </a:t>
            </a:r>
          </a:p>
          <a:p>
            <a:r>
              <a:rPr lang="en-US" dirty="0"/>
              <a:t>Bank reconciliations</a:t>
            </a:r>
          </a:p>
        </p:txBody>
      </p:sp>
    </p:spTree>
    <p:extLst>
      <p:ext uri="{BB962C8B-B14F-4D97-AF65-F5344CB8AC3E}">
        <p14:creationId xmlns:p14="http://schemas.microsoft.com/office/powerpoint/2010/main" val="9760949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0CCF-C5FE-6C74-17B8-86FB47AB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8C0F-A622-5BF2-DBE5-7A1916C6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+ Fraud Triangle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BF925-BABA-1FFD-3198-75727E64C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220555" cy="4023360"/>
          </a:xfrm>
        </p:spPr>
        <p:txBody>
          <a:bodyPr/>
          <a:lstStyle/>
          <a:p>
            <a:r>
              <a:rPr lang="en-US" dirty="0"/>
              <a:t>Fraud – Intentionally misreporting a company’s financial statements for personal or corporate gain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3DBFA-F677-EA20-C59F-7C915E9F5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816982"/>
            <a:ext cx="51054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72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5CB52-682C-15EE-B6AB-C26DFA63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71FE-21D2-C9FD-CAFC-0F6B390A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Controls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AB18-7B7E-D51C-867B-C4BED21B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755648"/>
            <a:ext cx="9921241" cy="4718304"/>
          </a:xfrm>
        </p:spPr>
        <p:txBody>
          <a:bodyPr>
            <a:normAutofit/>
          </a:bodyPr>
          <a:lstStyle/>
          <a:p>
            <a:pPr marL="310896" lvl="2" indent="0">
              <a:buNone/>
            </a:pPr>
            <a:r>
              <a:rPr lang="en-US" sz="2200" dirty="0"/>
              <a:t> Internal Controls – Management’s responsibility to </a:t>
            </a:r>
            <a:r>
              <a:rPr lang="en-US" sz="2200" b="1" dirty="0"/>
              <a:t>prevent errors + deter fraud by</a:t>
            </a:r>
            <a:r>
              <a:rPr lang="en-US" sz="2200" dirty="0"/>
              <a:t>:</a:t>
            </a:r>
          </a:p>
          <a:p>
            <a:pPr lvl="4"/>
            <a:r>
              <a:rPr lang="en-US" sz="1800" dirty="0"/>
              <a:t>Safeguarding assets, providing accurate information, promoting efficiency, enforcing policies, and complying with regulations</a:t>
            </a:r>
          </a:p>
          <a:p>
            <a:pPr marL="457200" lvl="3" indent="0">
              <a:buNone/>
            </a:pPr>
            <a:r>
              <a:rPr lang="en-US" sz="2200" dirty="0"/>
              <a:t>Types of Internal Controls</a:t>
            </a:r>
            <a:r>
              <a:rPr lang="en-US" sz="2200" b="1" dirty="0"/>
              <a:t>:</a:t>
            </a:r>
          </a:p>
          <a:p>
            <a:pPr marL="1097280" lvl="4" indent="-457200">
              <a:buFont typeface="+mj-lt"/>
              <a:buAutoNum type="arabicPeriod"/>
            </a:pPr>
            <a:r>
              <a:rPr lang="en-US" sz="1800" b="1" dirty="0"/>
              <a:t>Preventative Controls: </a:t>
            </a:r>
            <a:r>
              <a:rPr lang="en-US" sz="1800" dirty="0"/>
              <a:t>Stopping problems before they happen (ex. Payment Authorization)</a:t>
            </a:r>
          </a:p>
          <a:p>
            <a:pPr marL="1097280" lvl="4" indent="-457200">
              <a:buFont typeface="+mj-lt"/>
              <a:buAutoNum type="arabicPeriod"/>
            </a:pPr>
            <a:r>
              <a:rPr lang="en-US" sz="1800" b="1" dirty="0"/>
              <a:t>Detective Controls: </a:t>
            </a:r>
            <a:r>
              <a:rPr lang="en-US" sz="1800" dirty="0"/>
              <a:t>Finds problems after they happen (ex. Bank Adjustments</a:t>
            </a:r>
            <a:endParaRPr lang="en-US" sz="1800" b="1" dirty="0"/>
          </a:p>
          <a:p>
            <a:pPr marL="457200" lvl="3" indent="0">
              <a:buNone/>
            </a:pPr>
            <a:endParaRPr lang="en-US" sz="2200" dirty="0"/>
          </a:p>
          <a:p>
            <a:pPr marL="457200" lvl="3" indent="0">
              <a:buNone/>
            </a:pPr>
            <a:r>
              <a:rPr lang="en-US" sz="2200" dirty="0"/>
              <a:t>Audit Opinion’s for Internal Controls – Since SOX Act, companies must report on </a:t>
            </a:r>
            <a:r>
              <a:rPr lang="en-US" sz="2200" b="1" dirty="0"/>
              <a:t>design/effectiveness </a:t>
            </a:r>
            <a:r>
              <a:rPr lang="en-US" sz="2200" dirty="0"/>
              <a:t>of their internal control. Accounting firms also give audit opinions on the </a:t>
            </a:r>
            <a:r>
              <a:rPr lang="en-US" sz="2200" b="1" dirty="0"/>
              <a:t>design/effectiveness</a:t>
            </a:r>
            <a:r>
              <a:rPr lang="en-US" sz="2200" dirty="0"/>
              <a:t> of internal controls</a:t>
            </a:r>
            <a:endParaRPr lang="en-US" sz="1800" dirty="0"/>
          </a:p>
          <a:p>
            <a:pPr marL="457200" lvl="3" indent="0">
              <a:buNone/>
            </a:pPr>
            <a:endParaRPr lang="en-US" sz="2200" dirty="0"/>
          </a:p>
          <a:p>
            <a:pPr marL="457200" lvl="3" indent="0">
              <a:buNone/>
            </a:pPr>
            <a:r>
              <a:rPr lang="en-US" sz="2200" dirty="0"/>
              <a:t>Public Company Accounting Oversight Board – Issues auditing standards, oversees quality controls on public accounting firms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CE8EA-4C84-01FC-9878-9C0BBF3216C9}"/>
              </a:ext>
            </a:extLst>
          </p:cNvPr>
          <p:cNvSpPr txBox="1"/>
          <p:nvPr/>
        </p:nvSpPr>
        <p:spPr>
          <a:xfrm>
            <a:off x="2066544" y="26883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061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E212-1375-C8F8-196E-73D91236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DB94-DEAA-6301-2133-CBCDED52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Coso</a:t>
            </a:r>
            <a:r>
              <a:rPr lang="en-US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B3D1E-3635-D551-CA7A-0D9D9BC3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076688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Control Environment – setting the tone of the organization to be ethical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Risk Assessment – identifying and analyzing risks that face the organization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Control Activities – the specific policies designed to reduce risk (internal controls)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Information and Communication – making sure management and employees are on same page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Monitoring Activities – assessing internal system, evaluating its effectiveness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4834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32553-DD0F-9527-B3D8-B037F505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CFF1-6667-040E-EDF9-4647B7C1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+ Good Cash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B0C7-CFB7-5F06-A563-A690C7DE1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Cash - Checks, Currency, Money account orders, Checking account balance, Saving account balance</a:t>
            </a:r>
          </a:p>
          <a:p>
            <a:r>
              <a:rPr lang="en-US" dirty="0">
                <a:sym typeface="Wingdings" panose="05000000000000000000" pitchFamily="2" charset="2"/>
              </a:rPr>
              <a:t>Cash Equivalent – Highly Liquid assets, Short term investments (&lt;90 days), Risk free securities</a:t>
            </a:r>
          </a:p>
          <a:p>
            <a:r>
              <a:rPr lang="en-US" b="1" dirty="0">
                <a:sym typeface="Wingdings" panose="05000000000000000000" pitchFamily="2" charset="2"/>
              </a:rPr>
              <a:t>Good Cash Controls: </a:t>
            </a:r>
            <a:r>
              <a:rPr lang="en-US" dirty="0">
                <a:sym typeface="Wingdings" panose="05000000000000000000" pitchFamily="2" charset="2"/>
              </a:rPr>
              <a:t>Clear policies, separation of duties, bank reconciliation</a:t>
            </a: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Receipts: </a:t>
            </a:r>
            <a:r>
              <a:rPr lang="en-US" dirty="0">
                <a:sym typeface="Wingdings" panose="05000000000000000000" pitchFamily="2" charset="2"/>
              </a:rPr>
              <a:t>Record at bank when received, Deposit at bank daily, Count cash frequently, Give customers receipts</a:t>
            </a:r>
            <a:endParaRPr lang="en-US" b="1" dirty="0">
              <a:sym typeface="Wingdings" panose="05000000000000000000" pitchFamily="2" charset="2"/>
            </a:endParaRP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Disbursements: </a:t>
            </a:r>
            <a:r>
              <a:rPr lang="en-US" dirty="0">
                <a:sym typeface="Wingdings" panose="05000000000000000000" pitchFamily="2" charset="2"/>
              </a:rPr>
              <a:t>Pay with checks (prenumbered), Segregate duties, Require signatures and documentation on larger amounts</a:t>
            </a:r>
            <a:endParaRPr lang="en-US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70366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3E13-F3EF-999E-E346-3D3E7469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387F-89AD-3F51-32FF-6D3C3D94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reconciliation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9DD0-B2FE-F408-DE98-FDFE34818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076688" cy="4023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Reconciling the book balances with the bank balances</a:t>
            </a:r>
          </a:p>
          <a:p>
            <a:pPr marL="0" indent="0">
              <a:buNone/>
            </a:pPr>
            <a:r>
              <a:rPr lang="en-US" b="1" dirty="0"/>
              <a:t>Terms: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Bank statement debit memos</a:t>
            </a:r>
          </a:p>
          <a:p>
            <a:pPr marL="173736" lvl="1" indent="0">
              <a:buNone/>
            </a:pPr>
            <a:r>
              <a:rPr lang="en-US" dirty="0"/>
              <a:t>-Reduce customers account balance</a:t>
            </a:r>
          </a:p>
          <a:p>
            <a:pPr marL="173736" lvl="1" indent="0">
              <a:buNone/>
            </a:pPr>
            <a:r>
              <a:rPr lang="en-US" dirty="0"/>
              <a:t>-Bank Fee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Bank statement credit memos</a:t>
            </a:r>
          </a:p>
          <a:p>
            <a:pPr marL="173736" lvl="1" indent="0">
              <a:buNone/>
            </a:pPr>
            <a:r>
              <a:rPr lang="en-US" dirty="0"/>
              <a:t> Increase customers account balance</a:t>
            </a:r>
          </a:p>
          <a:p>
            <a:pPr marL="173736" lvl="1" indent="0">
              <a:buNone/>
            </a:pPr>
            <a:r>
              <a:rPr lang="en-US" dirty="0"/>
              <a:t>- Interest earned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Outstanding checks</a:t>
            </a:r>
          </a:p>
          <a:p>
            <a:pPr marL="173736" lvl="1" indent="0">
              <a:buNone/>
            </a:pPr>
            <a:r>
              <a:rPr lang="en-US" dirty="0"/>
              <a:t>- Checks written by company, not yet received by bank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Deposits in Transit</a:t>
            </a:r>
          </a:p>
          <a:p>
            <a:pPr marL="173736" lvl="1" indent="0">
              <a:buNone/>
            </a:pPr>
            <a:r>
              <a:rPr lang="en-US" dirty="0"/>
              <a:t>-Deposits not yet recorded by bank</a:t>
            </a:r>
          </a:p>
          <a:p>
            <a:pPr marL="0" indent="0">
              <a:buNone/>
            </a:pPr>
            <a:endParaRPr lang="en-US" dirty="0"/>
          </a:p>
          <a:p>
            <a:pPr marL="17373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956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D58A3-4735-76D8-EE90-1AD1318B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FAB28F2-BD74-75DC-BBB8-24DA7541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5 e5-5 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5B493-79DA-8026-865B-5C2F58E13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3" y="2082923"/>
            <a:ext cx="8969647" cy="14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082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06A17-5860-7E8B-A7DA-A98A28CB6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5DD8F78-4592-E11F-3CA1-625ADBAC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5 E5-3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98C7F6-55D5-591C-1214-582E6EACE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4" y="1865360"/>
            <a:ext cx="9484174" cy="24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424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BF7C-2A59-5C8E-238C-2EB39B38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C165-8299-F375-2189-895EA9CE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Chapter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CA7AE-4A53-9624-9486-B8A6DA40D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Autofit/>
          </a:bodyPr>
          <a:lstStyle/>
          <a:p>
            <a:r>
              <a:rPr lang="en-US" dirty="0"/>
              <a:t>Vertical analysis </a:t>
            </a:r>
          </a:p>
          <a:p>
            <a:r>
              <a:rPr lang="en-US" dirty="0"/>
              <a:t>Horizontal analysis </a:t>
            </a:r>
          </a:p>
          <a:p>
            <a:r>
              <a:rPr lang="en-US" dirty="0"/>
              <a:t>Financial ratios </a:t>
            </a:r>
          </a:p>
          <a:p>
            <a:r>
              <a:rPr lang="en-US" dirty="0"/>
              <a:t>Liquidity</a:t>
            </a:r>
          </a:p>
          <a:p>
            <a:r>
              <a:rPr lang="en-US" dirty="0"/>
              <a:t>Solvency </a:t>
            </a:r>
          </a:p>
          <a:p>
            <a:r>
              <a:rPr lang="en-US" dirty="0"/>
              <a:t>Profitability</a:t>
            </a:r>
          </a:p>
          <a:p>
            <a:r>
              <a:rPr lang="en-US" dirty="0"/>
              <a:t>Interest in Ratios</a:t>
            </a:r>
          </a:p>
          <a:p>
            <a:r>
              <a:rPr lang="en-US" dirty="0"/>
              <a:t>Cash conversion cycle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207461-338D-B054-5FED-AB4B3A8DA3C5}"/>
              </a:ext>
            </a:extLst>
          </p:cNvPr>
          <p:cNvCxnSpPr/>
          <p:nvPr/>
        </p:nvCxnSpPr>
        <p:spPr>
          <a:xfrm>
            <a:off x="4556193" y="964276"/>
            <a:ext cx="0" cy="508939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3903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E24C-15A0-4DE9-BC99-BF8F7C17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versus horizontal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1081-A864-46D7-88E3-A3298F503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Vertical Analysis</a:t>
            </a:r>
          </a:p>
          <a:p>
            <a:pPr lvl="1"/>
            <a:r>
              <a:rPr lang="en-US" sz="2200" dirty="0"/>
              <a:t>Expresses financial statements in ratio form</a:t>
            </a:r>
          </a:p>
          <a:p>
            <a:pPr lvl="1"/>
            <a:r>
              <a:rPr lang="en-US" sz="2200" b="1" dirty="0"/>
              <a:t>Income</a:t>
            </a:r>
            <a:r>
              <a:rPr lang="en-US" sz="2200" dirty="0"/>
              <a:t> in terms of percent of </a:t>
            </a:r>
            <a:r>
              <a:rPr lang="en-US" sz="2200" b="1" dirty="0"/>
              <a:t>net sales</a:t>
            </a:r>
            <a:r>
              <a:rPr lang="en-US" sz="2200" dirty="0"/>
              <a:t>, </a:t>
            </a:r>
            <a:r>
              <a:rPr lang="en-US" sz="2200" b="1" dirty="0"/>
              <a:t>balance sheet </a:t>
            </a:r>
            <a:r>
              <a:rPr lang="en-US" sz="2200" dirty="0"/>
              <a:t>in terms of percent </a:t>
            </a:r>
            <a:r>
              <a:rPr lang="en-US" sz="2200" b="1" dirty="0"/>
              <a:t>of total assets</a:t>
            </a:r>
          </a:p>
          <a:p>
            <a:pPr lvl="1"/>
            <a:r>
              <a:rPr lang="en-US" sz="2200" dirty="0"/>
              <a:t>AKA Common Size Financial Statements</a:t>
            </a:r>
          </a:p>
          <a:p>
            <a:pPr lvl="1"/>
            <a:r>
              <a:rPr lang="en-US" sz="2200" dirty="0"/>
              <a:t>Useful to comparing </a:t>
            </a:r>
            <a:r>
              <a:rPr lang="en-US" sz="2200" b="1" dirty="0"/>
              <a:t>companies of different sizes</a:t>
            </a:r>
          </a:p>
          <a:p>
            <a:r>
              <a:rPr lang="en-US" dirty="0"/>
              <a:t>Horizontal Analysis</a:t>
            </a:r>
          </a:p>
          <a:p>
            <a:pPr lvl="1"/>
            <a:r>
              <a:rPr lang="en-US" sz="2200" dirty="0"/>
              <a:t>Expresses changes in financial statements across time</a:t>
            </a:r>
          </a:p>
          <a:p>
            <a:pPr lvl="1"/>
            <a:r>
              <a:rPr lang="en-US" sz="2200" dirty="0"/>
              <a:t>Allows for the identification of </a:t>
            </a:r>
            <a:r>
              <a:rPr lang="en-US" sz="2200" b="1" dirty="0"/>
              <a:t>trends within a company</a:t>
            </a:r>
          </a:p>
          <a:p>
            <a:pPr lvl="1"/>
            <a:r>
              <a:rPr lang="en-US" sz="2200" dirty="0"/>
              <a:t>Used to compare a company to itself during different accounting cycles</a:t>
            </a:r>
          </a:p>
        </p:txBody>
      </p:sp>
    </p:spTree>
    <p:extLst>
      <p:ext uri="{BB962C8B-B14F-4D97-AF65-F5344CB8AC3E}">
        <p14:creationId xmlns:p14="http://schemas.microsoft.com/office/powerpoint/2010/main" val="32794435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3F36-05EE-4B36-8B73-E3AECB00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E9B3F-DC57-4DB4-98F5-103390EA9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Liquidity refers to cash availability; How much a company has and how quickly it can be accessed/raised on short notice</a:t>
            </a:r>
          </a:p>
          <a:p>
            <a:pPr lvl="1"/>
            <a:r>
              <a:rPr lang="en-US" sz="2200" dirty="0"/>
              <a:t>Current Ratio</a:t>
            </a:r>
          </a:p>
          <a:p>
            <a:pPr lvl="2"/>
            <a:r>
              <a:rPr lang="en-US" sz="2200" dirty="0"/>
              <a:t>Liquidity based on Current Assets and Current Liabilities</a:t>
            </a:r>
          </a:p>
          <a:p>
            <a:pPr lvl="1"/>
            <a:r>
              <a:rPr lang="en-US" sz="2200" dirty="0"/>
              <a:t>Quick Ratio</a:t>
            </a:r>
          </a:p>
          <a:p>
            <a:pPr lvl="2"/>
            <a:r>
              <a:rPr lang="en-US" sz="2200" dirty="0"/>
              <a:t>Liquidity based on Cash, Marketable Securities, Accounts Receivable; Only the most liquid current assets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643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3A81-3775-4166-AB8D-45C39194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1BCE-4117-4C5B-901D-898032C14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Solvency refers to a company’s ability to meet its debt obligations (interest payments and loan repayments)</a:t>
            </a:r>
          </a:p>
          <a:p>
            <a:pPr lvl="1"/>
            <a:r>
              <a:rPr lang="en-US" sz="2200" dirty="0"/>
              <a:t>Liabilities-To-Equity</a:t>
            </a:r>
          </a:p>
          <a:p>
            <a:pPr lvl="2"/>
            <a:r>
              <a:rPr lang="en-US" sz="2200" dirty="0"/>
              <a:t>Tells how reliant a company is on its creditor financing (loans) compared to equity (stock investors)</a:t>
            </a:r>
          </a:p>
          <a:p>
            <a:pPr lvl="1"/>
            <a:r>
              <a:rPr lang="en-US" sz="2200" dirty="0"/>
              <a:t>Interest Coverage Ratio</a:t>
            </a:r>
          </a:p>
          <a:p>
            <a:pPr lvl="2"/>
            <a:r>
              <a:rPr lang="en-US" sz="2200" dirty="0"/>
              <a:t>Core profits to liabilities, meet debt obligation based on income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013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B78E-4C0C-43CA-A231-4601EA538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profitability versus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FFDA-DA8F-4F5C-8499-FE8F8B311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Profitability:</a:t>
            </a:r>
          </a:p>
          <a:p>
            <a:pPr lvl="1"/>
            <a:r>
              <a:rPr lang="en-US" dirty="0"/>
              <a:t>Assessed by looking at Profit Margin</a:t>
            </a:r>
          </a:p>
          <a:p>
            <a:pPr lvl="1"/>
            <a:r>
              <a:rPr lang="en-US" dirty="0"/>
              <a:t>How profitable is each dollar that is being spent?</a:t>
            </a:r>
          </a:p>
          <a:p>
            <a:pPr lvl="1"/>
            <a:r>
              <a:rPr lang="en-US" dirty="0"/>
              <a:t>Ex: Gross profit margin/operating expense margin/profit margin</a:t>
            </a:r>
          </a:p>
          <a:p>
            <a:r>
              <a:rPr lang="en-US" dirty="0"/>
              <a:t>Efficiency/Productivity:</a:t>
            </a:r>
          </a:p>
          <a:p>
            <a:pPr lvl="1"/>
            <a:r>
              <a:rPr lang="en-US" dirty="0"/>
              <a:t>Assessed by looking at Asset Turnover</a:t>
            </a:r>
          </a:p>
          <a:p>
            <a:pPr lvl="1"/>
            <a:r>
              <a:rPr lang="en-US" dirty="0"/>
              <a:t>How productive are a company’s assets in generating sales?</a:t>
            </a:r>
          </a:p>
          <a:p>
            <a:pPr lvl="1"/>
            <a:r>
              <a:rPr lang="en-US" dirty="0"/>
              <a:t>Ex: Cash conversion cycle/PPE turnover</a:t>
            </a:r>
          </a:p>
        </p:txBody>
      </p:sp>
    </p:spTree>
    <p:extLst>
      <p:ext uri="{BB962C8B-B14F-4D97-AF65-F5344CB8AC3E}">
        <p14:creationId xmlns:p14="http://schemas.microsoft.com/office/powerpoint/2010/main" val="38224311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E9FF-E44E-46F5-BE8C-0339CD6C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Conversion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A422-D6AF-4D30-BFB9-6A170E2E2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of Days the company has its cash tied up in receivable and inventories less the number of days of trade credit provided  by company suppliers</a:t>
            </a:r>
          </a:p>
          <a:p>
            <a:r>
              <a:rPr lang="en-US" dirty="0"/>
              <a:t>Average Days in Sales Outstanding</a:t>
            </a:r>
          </a:p>
          <a:p>
            <a:r>
              <a:rPr lang="en-US" dirty="0"/>
              <a:t>+Average Days in Inventory Outstanding</a:t>
            </a:r>
          </a:p>
          <a:p>
            <a:r>
              <a:rPr lang="en-US" dirty="0"/>
              <a:t>-Average Days Payable Outstanding</a:t>
            </a:r>
          </a:p>
          <a:p>
            <a:r>
              <a:rPr lang="en-US" dirty="0"/>
              <a:t>=Average Cash Conversion Cycle</a:t>
            </a:r>
          </a:p>
        </p:txBody>
      </p:sp>
    </p:spTree>
    <p:extLst>
      <p:ext uri="{BB962C8B-B14F-4D97-AF65-F5344CB8AC3E}">
        <p14:creationId xmlns:p14="http://schemas.microsoft.com/office/powerpoint/2010/main" val="15753333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C8DE-D2C0-7423-93E2-99257F67E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B052-AD8C-B96B-3E7F-8699AF55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in Ratios + CCC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3024-C5C2-5264-52B5-349EE371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0896" lvl="2" indent="0">
              <a:buNone/>
            </a:pPr>
            <a:r>
              <a:rPr lang="en-US" sz="2200" dirty="0"/>
              <a:t>Ratios are useful to both internal and external users, as a quantifying measure of a company’s performance in a specific category</a:t>
            </a:r>
          </a:p>
          <a:p>
            <a:pPr lvl="4"/>
            <a:r>
              <a:rPr lang="en-US" sz="1800" dirty="0"/>
              <a:t>Ex. Short term lenders would be interested in a company's liquidity ratios, long term lenders would be interested in a company’s solvency ratios</a:t>
            </a:r>
          </a:p>
          <a:p>
            <a:pPr marL="310896" lvl="2" indent="0">
              <a:buNone/>
            </a:pPr>
            <a:r>
              <a:rPr lang="en-US" sz="2200" dirty="0"/>
              <a:t>Cash Conversion Cycle measures how fast companies turn investments in inventory into cash</a:t>
            </a:r>
          </a:p>
          <a:p>
            <a:pPr lvl="3"/>
            <a:r>
              <a:rPr lang="en-US" sz="1800" dirty="0"/>
              <a:t>Negative CCC means you are selling goods before paying supplier</a:t>
            </a:r>
          </a:p>
          <a:p>
            <a:pPr lvl="3"/>
            <a:r>
              <a:rPr lang="en-US" sz="1800" dirty="0"/>
              <a:t>Long CCC (&gt;60 days) means you are converting inventory to cash slowly</a:t>
            </a:r>
          </a:p>
          <a:p>
            <a:pPr lvl="3"/>
            <a:r>
              <a:rPr lang="en-US" sz="1800" dirty="0"/>
              <a:t>Smaller CCC indicates business efficiency, converting inventory to cash fast</a:t>
            </a:r>
          </a:p>
        </p:txBody>
      </p:sp>
    </p:spTree>
    <p:extLst>
      <p:ext uri="{BB962C8B-B14F-4D97-AF65-F5344CB8AC3E}">
        <p14:creationId xmlns:p14="http://schemas.microsoft.com/office/powerpoint/2010/main" val="26733252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FDCDD-C652-F7D6-3845-E1D81ED2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03A5B10-E4E3-65ED-1DED-F8C4D2A4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4 E4-5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126B3-8460-FD7B-F11A-A8825A743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4" y="2133690"/>
            <a:ext cx="7772400" cy="181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574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4EC30-DC78-4E66-1678-E3123FE0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6F2D90F-23C4-36DE-0885-94907B612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Chapter 11 E11-5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65CD90-6398-BB15-9107-327933E1B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3" y="1656892"/>
            <a:ext cx="9827139" cy="44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601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4ACBE-AEEF-4D73-8693-55DBEF58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4E25341-015E-642F-8FC8-03ADEDBE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04" y="719932"/>
            <a:ext cx="8534399" cy="1413758"/>
          </a:xfrm>
        </p:spPr>
        <p:txBody>
          <a:bodyPr anchor="b">
            <a:normAutofit/>
          </a:bodyPr>
          <a:lstStyle/>
          <a:p>
            <a:r>
              <a:rPr lang="en-US" sz="4400" dirty="0"/>
              <a:t>CCC Problem from last year!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85CB3-299B-F9D5-AC35-C41A4C61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133" y="1803773"/>
            <a:ext cx="8044902" cy="470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19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{89BC3170-B3BF-624A-A84B-ACC209DA3E38}tf10001061</Template>
  <TotalTime>20128</TotalTime>
  <Words>3218</Words>
  <Application>Microsoft Macintosh PowerPoint</Application>
  <PresentationFormat>Widescreen</PresentationFormat>
  <Paragraphs>445</Paragraphs>
  <Slides>69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Accounting Exam 1 Review </vt:lpstr>
      <vt:lpstr>MEMORIZE</vt:lpstr>
      <vt:lpstr>TA Tips</vt:lpstr>
      <vt:lpstr>Chapter 1 Intro</vt:lpstr>
      <vt:lpstr>Business Tax Structures</vt:lpstr>
      <vt:lpstr>4 Types of Business + Drawbacks</vt:lpstr>
      <vt:lpstr>Chapter 1/4</vt:lpstr>
      <vt:lpstr>Balance  Sheet</vt:lpstr>
      <vt:lpstr>Current Versus long term (Balance Sheet)</vt:lpstr>
      <vt:lpstr>Market value vs book value or historical cost</vt:lpstr>
      <vt:lpstr>Retained earnings formula</vt:lpstr>
      <vt:lpstr> Chapter 1 P1-13 </vt:lpstr>
      <vt:lpstr>Income Statement</vt:lpstr>
      <vt:lpstr>Requirements to be an asset</vt:lpstr>
      <vt:lpstr>Asset versus expense </vt:lpstr>
      <vt:lpstr>Statement of Stockholders’ equity</vt:lpstr>
      <vt:lpstr>Statement of cash flows</vt:lpstr>
      <vt:lpstr>Types of cash flow activities </vt:lpstr>
      <vt:lpstr>Chapter1 SE 1-10 </vt:lpstr>
      <vt:lpstr>types of accounts</vt:lpstr>
      <vt:lpstr>Notes on the Financial Statements   </vt:lpstr>
      <vt:lpstr>users of financial statements</vt:lpstr>
      <vt:lpstr>Chapter 1 p1-9 </vt:lpstr>
      <vt:lpstr>Accounting Standards and sec filings</vt:lpstr>
      <vt:lpstr>Good Audit Opinion</vt:lpstr>
      <vt:lpstr>Simple Ratio Analysis Categories</vt:lpstr>
      <vt:lpstr>Chapter 2</vt:lpstr>
      <vt:lpstr>accounting Key Terms</vt:lpstr>
      <vt:lpstr>accounting cycle steps</vt:lpstr>
      <vt:lpstr>Permanent vs temporary accounts</vt:lpstr>
      <vt:lpstr>Chapter 2 SE2-2 </vt:lpstr>
      <vt:lpstr>Chapter 2 e2-6  </vt:lpstr>
      <vt:lpstr>Chapter 2 P2-5</vt:lpstr>
      <vt:lpstr>Chapter 3 </vt:lpstr>
      <vt:lpstr>Accrual Accounting</vt:lpstr>
      <vt:lpstr>revenue recognition principle</vt:lpstr>
      <vt:lpstr>expense recognition principle</vt:lpstr>
      <vt:lpstr>Quality of Earnings</vt:lpstr>
      <vt:lpstr>Adjusting Entries</vt:lpstr>
      <vt:lpstr>Prepaid expenses</vt:lpstr>
      <vt:lpstr>Unearned Revenues</vt:lpstr>
      <vt:lpstr>accrued expenses</vt:lpstr>
      <vt:lpstr>accrued revenues</vt:lpstr>
      <vt:lpstr>Chapter 3 Q3-5  </vt:lpstr>
      <vt:lpstr>Chapter 3 Se3-5 </vt:lpstr>
      <vt:lpstr>Chapter 3 P3-6 </vt:lpstr>
      <vt:lpstr>Debits and Credits</vt:lpstr>
      <vt:lpstr>Trial balance</vt:lpstr>
      <vt:lpstr>Closing Entries</vt:lpstr>
      <vt:lpstr>Appendix C Ec-1 </vt:lpstr>
      <vt:lpstr>Appendix C Ec-3 </vt:lpstr>
      <vt:lpstr>Chapter 5</vt:lpstr>
      <vt:lpstr>Fraud + Fraud Triangle</vt:lpstr>
      <vt:lpstr>Internal Controls </vt:lpstr>
      <vt:lpstr>Coso Framework</vt:lpstr>
      <vt:lpstr>Cash + Good Cash Controls</vt:lpstr>
      <vt:lpstr>Bank reconciliation</vt:lpstr>
      <vt:lpstr>Chapter 5 e5-5  </vt:lpstr>
      <vt:lpstr>Chapter 5 E5-3 </vt:lpstr>
      <vt:lpstr>Chapter 11</vt:lpstr>
      <vt:lpstr>vertical versus horizontal analysis</vt:lpstr>
      <vt:lpstr>liquidity</vt:lpstr>
      <vt:lpstr>solvency</vt:lpstr>
      <vt:lpstr>profitability versus efficiency</vt:lpstr>
      <vt:lpstr>Cash Conversion Cycle</vt:lpstr>
      <vt:lpstr>Interest in Ratios + CCC</vt:lpstr>
      <vt:lpstr>Chapter 4 E4-5 </vt:lpstr>
      <vt:lpstr>Chapter 11 E11-5 </vt:lpstr>
      <vt:lpstr>CCC Problem from last year!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Accounting Exam 1 Review </dc:title>
  <dc:creator>Kylie Becker</dc:creator>
  <cp:lastModifiedBy>Maxwell Sievenpiper</cp:lastModifiedBy>
  <cp:revision>102</cp:revision>
  <dcterms:created xsi:type="dcterms:W3CDTF">2019-01-27T23:02:02Z</dcterms:created>
  <dcterms:modified xsi:type="dcterms:W3CDTF">2024-02-18T20:12:13Z</dcterms:modified>
</cp:coreProperties>
</file>