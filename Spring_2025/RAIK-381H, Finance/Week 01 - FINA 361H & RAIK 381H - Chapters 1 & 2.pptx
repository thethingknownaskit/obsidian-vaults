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80" r:id="rId3"/>
    <p:sldId id="281" r:id="rId4"/>
    <p:sldId id="282" r:id="rId5"/>
    <p:sldId id="319" r:id="rId6"/>
    <p:sldId id="283" r:id="rId7"/>
    <p:sldId id="284" r:id="rId8"/>
    <p:sldId id="285" r:id="rId9"/>
    <p:sldId id="286" r:id="rId10"/>
    <p:sldId id="287" r:id="rId11"/>
    <p:sldId id="312" r:id="rId12"/>
    <p:sldId id="317" r:id="rId13"/>
    <p:sldId id="258" r:id="rId14"/>
    <p:sldId id="267" r:id="rId15"/>
    <p:sldId id="326" r:id="rId16"/>
    <p:sldId id="325" r:id="rId17"/>
    <p:sldId id="261" r:id="rId18"/>
    <p:sldId id="264" r:id="rId19"/>
    <p:sldId id="263" r:id="rId20"/>
    <p:sldId id="262" r:id="rId21"/>
    <p:sldId id="266" r:id="rId22"/>
    <p:sldId id="321" r:id="rId23"/>
    <p:sldId id="313" r:id="rId24"/>
    <p:sldId id="310" r:id="rId25"/>
    <p:sldId id="314" r:id="rId26"/>
    <p:sldId id="311" r:id="rId27"/>
    <p:sldId id="316" r:id="rId28"/>
    <p:sldId id="288" r:id="rId29"/>
    <p:sldId id="318" r:id="rId30"/>
    <p:sldId id="289" r:id="rId31"/>
    <p:sldId id="290" r:id="rId32"/>
    <p:sldId id="291" r:id="rId33"/>
    <p:sldId id="292" r:id="rId34"/>
    <p:sldId id="293" r:id="rId35"/>
    <p:sldId id="294" r:id="rId36"/>
    <p:sldId id="295" r:id="rId37"/>
    <p:sldId id="296" r:id="rId38"/>
    <p:sldId id="297" r:id="rId39"/>
    <p:sldId id="320" r:id="rId40"/>
    <p:sldId id="265" r:id="rId41"/>
    <p:sldId id="268" r:id="rId42"/>
    <p:sldId id="269" r:id="rId43"/>
    <p:sldId id="270" r:id="rId44"/>
    <p:sldId id="271" r:id="rId45"/>
    <p:sldId id="322" r:id="rId46"/>
    <p:sldId id="272" r:id="rId47"/>
    <p:sldId id="273" r:id="rId48"/>
    <p:sldId id="323" r:id="rId49"/>
    <p:sldId id="324" r:id="rId50"/>
    <p:sldId id="274" r:id="rId51"/>
    <p:sldId id="275" r:id="rId52"/>
  </p:sldIdLst>
  <p:sldSz cx="9144000" cy="6858000" type="screen4x3"/>
  <p:notesSz cx="7026275" cy="9312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0ABB6-C79B-4E87-9D2A-975EC66022FD}" v="1" dt="2025-01-21T19:26:03.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3" autoAdjust="0"/>
    <p:restoredTop sz="95770" autoAdjust="0"/>
  </p:normalViewPr>
  <p:slideViewPr>
    <p:cSldViewPr>
      <p:cViewPr varScale="1">
        <p:scale>
          <a:sx n="107" d="100"/>
          <a:sy n="107" d="100"/>
        </p:scale>
        <p:origin x="1758"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Baugh" userId="d6b09c95-9a92-4b27-9c50-7a75e499542c" providerId="ADAL" clId="{B8E0ABB6-C79B-4E87-9D2A-975EC66022FD}"/>
    <pc:docChg chg="delSld modNotesMaster">
      <pc:chgData name="Brian Baugh" userId="d6b09c95-9a92-4b27-9c50-7a75e499542c" providerId="ADAL" clId="{B8E0ABB6-C79B-4E87-9D2A-975EC66022FD}" dt="2025-01-21T19:35:09.515" v="1" actId="2696"/>
      <pc:docMkLst>
        <pc:docMk/>
      </pc:docMkLst>
      <pc:sldChg chg="del">
        <pc:chgData name="Brian Baugh" userId="d6b09c95-9a92-4b27-9c50-7a75e499542c" providerId="ADAL" clId="{B8E0ABB6-C79B-4E87-9D2A-975EC66022FD}" dt="2025-01-21T19:35:09.515" v="1" actId="2696"/>
        <pc:sldMkLst>
          <pc:docMk/>
          <pc:sldMk cId="3770951182" sldId="260"/>
        </pc:sldMkLst>
      </pc:sldChg>
    </pc:docChg>
  </pc:docChgLst>
  <pc:docChgLst>
    <pc:chgData name="Brian Baugh" userId="d6b09c95-9a92-4b27-9c50-7a75e499542c" providerId="ADAL" clId="{9D5BE501-EBC5-4FB1-84AE-CF8F88F008EC}"/>
    <pc:docChg chg="custSel addSld modSld sldOrd">
      <pc:chgData name="Brian Baugh" userId="d6b09c95-9a92-4b27-9c50-7a75e499542c" providerId="ADAL" clId="{9D5BE501-EBC5-4FB1-84AE-CF8F88F008EC}" dt="2024-01-23T19:27:35.373" v="422" actId="1076"/>
      <pc:docMkLst>
        <pc:docMk/>
      </pc:docMkLst>
      <pc:sldChg chg="modSp mod">
        <pc:chgData name="Brian Baugh" userId="d6b09c95-9a92-4b27-9c50-7a75e499542c" providerId="ADAL" clId="{9D5BE501-EBC5-4FB1-84AE-CF8F88F008EC}" dt="2024-01-23T19:26:01.975" v="420" actId="20577"/>
        <pc:sldMkLst>
          <pc:docMk/>
          <pc:sldMk cId="3770951182" sldId="260"/>
        </pc:sldMkLst>
      </pc:sldChg>
      <pc:sldChg chg="modSp mod">
        <pc:chgData name="Brian Baugh" userId="d6b09c95-9a92-4b27-9c50-7a75e499542c" providerId="ADAL" clId="{9D5BE501-EBC5-4FB1-84AE-CF8F88F008EC}" dt="2024-01-23T19:27:35.373" v="422" actId="1076"/>
        <pc:sldMkLst>
          <pc:docMk/>
          <pc:sldMk cId="3766927775" sldId="271"/>
        </pc:sldMkLst>
      </pc:sldChg>
      <pc:sldChg chg="addSp delSp modSp new mod">
        <pc:chgData name="Brian Baugh" userId="d6b09c95-9a92-4b27-9c50-7a75e499542c" providerId="ADAL" clId="{9D5BE501-EBC5-4FB1-84AE-CF8F88F008EC}" dt="2024-01-23T19:15:57.518" v="216" actId="27636"/>
        <pc:sldMkLst>
          <pc:docMk/>
          <pc:sldMk cId="3739488783" sldId="325"/>
        </pc:sldMkLst>
      </pc:sldChg>
      <pc:sldChg chg="addSp delSp modSp new mod ord">
        <pc:chgData name="Brian Baugh" userId="d6b09c95-9a92-4b27-9c50-7a75e499542c" providerId="ADAL" clId="{9D5BE501-EBC5-4FB1-84AE-CF8F88F008EC}" dt="2024-01-23T19:23:09.352" v="264"/>
        <pc:sldMkLst>
          <pc:docMk/>
          <pc:sldMk cId="947015670"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719" cy="465614"/>
          </a:xfrm>
          <a:prstGeom prst="rect">
            <a:avLst/>
          </a:prstGeom>
        </p:spPr>
        <p:txBody>
          <a:bodyPr vert="horz" lIns="93360" tIns="46680" rIns="93360" bIns="46680" rtlCol="0"/>
          <a:lstStyle>
            <a:lvl1pPr algn="l">
              <a:defRPr sz="1200"/>
            </a:lvl1pPr>
          </a:lstStyle>
          <a:p>
            <a:endParaRPr lang="en-US"/>
          </a:p>
        </p:txBody>
      </p:sp>
      <p:sp>
        <p:nvSpPr>
          <p:cNvPr id="3" name="Date Placeholder 2"/>
          <p:cNvSpPr>
            <a:spLocks noGrp="1"/>
          </p:cNvSpPr>
          <p:nvPr>
            <p:ph type="dt" idx="1"/>
          </p:nvPr>
        </p:nvSpPr>
        <p:spPr>
          <a:xfrm>
            <a:off x="3979930" y="0"/>
            <a:ext cx="3044719" cy="465614"/>
          </a:xfrm>
          <a:prstGeom prst="rect">
            <a:avLst/>
          </a:prstGeom>
        </p:spPr>
        <p:txBody>
          <a:bodyPr vert="horz" lIns="93360" tIns="46680" rIns="93360" bIns="46680" rtlCol="0"/>
          <a:lstStyle>
            <a:lvl1pPr algn="r">
              <a:defRPr sz="1200"/>
            </a:lvl1pPr>
          </a:lstStyle>
          <a:p>
            <a:fld id="{5E2466EB-B6CF-4AA0-8148-FD0D77E50F56}" type="datetimeFigureOut">
              <a:rPr lang="en-US" smtClean="0"/>
              <a:t>1/21/2025</a:t>
            </a:fld>
            <a:endParaRPr lang="en-US"/>
          </a:p>
        </p:txBody>
      </p:sp>
      <p:sp>
        <p:nvSpPr>
          <p:cNvPr id="4" name="Slide Image Placeholder 3"/>
          <p:cNvSpPr>
            <a:spLocks noGrp="1" noRot="1" noChangeAspect="1"/>
          </p:cNvSpPr>
          <p:nvPr>
            <p:ph type="sldImg" idx="2"/>
          </p:nvPr>
        </p:nvSpPr>
        <p:spPr>
          <a:xfrm>
            <a:off x="1184275" y="698500"/>
            <a:ext cx="4657725" cy="3492500"/>
          </a:xfrm>
          <a:prstGeom prst="rect">
            <a:avLst/>
          </a:prstGeom>
          <a:noFill/>
          <a:ln w="12700">
            <a:solidFill>
              <a:prstClr val="black"/>
            </a:solidFill>
          </a:ln>
        </p:spPr>
        <p:txBody>
          <a:bodyPr vert="horz" lIns="93360" tIns="46680" rIns="93360" bIns="46680" rtlCol="0" anchor="ctr"/>
          <a:lstStyle/>
          <a:p>
            <a:endParaRPr lang="en-US"/>
          </a:p>
        </p:txBody>
      </p:sp>
      <p:sp>
        <p:nvSpPr>
          <p:cNvPr id="5" name="Notes Placeholder 4"/>
          <p:cNvSpPr>
            <a:spLocks noGrp="1"/>
          </p:cNvSpPr>
          <p:nvPr>
            <p:ph type="body" sz="quarter" idx="3"/>
          </p:nvPr>
        </p:nvSpPr>
        <p:spPr>
          <a:xfrm>
            <a:off x="702628" y="4423331"/>
            <a:ext cx="5621020" cy="4190524"/>
          </a:xfrm>
          <a:prstGeom prst="rect">
            <a:avLst/>
          </a:prstGeom>
        </p:spPr>
        <p:txBody>
          <a:bodyPr vert="horz" lIns="93360" tIns="46680" rIns="93360" bIns="466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045"/>
            <a:ext cx="3044719" cy="465614"/>
          </a:xfrm>
          <a:prstGeom prst="rect">
            <a:avLst/>
          </a:prstGeom>
        </p:spPr>
        <p:txBody>
          <a:bodyPr vert="horz" lIns="93360" tIns="46680" rIns="93360" bIns="46680" rtlCol="0" anchor="b"/>
          <a:lstStyle>
            <a:lvl1pPr algn="l">
              <a:defRPr sz="1200"/>
            </a:lvl1pPr>
          </a:lstStyle>
          <a:p>
            <a:endParaRPr lang="en-US"/>
          </a:p>
        </p:txBody>
      </p:sp>
      <p:sp>
        <p:nvSpPr>
          <p:cNvPr id="7" name="Slide Number Placeholder 6"/>
          <p:cNvSpPr>
            <a:spLocks noGrp="1"/>
          </p:cNvSpPr>
          <p:nvPr>
            <p:ph type="sldNum" sz="quarter" idx="5"/>
          </p:nvPr>
        </p:nvSpPr>
        <p:spPr>
          <a:xfrm>
            <a:off x="3979930" y="8845045"/>
            <a:ext cx="3044719" cy="465614"/>
          </a:xfrm>
          <a:prstGeom prst="rect">
            <a:avLst/>
          </a:prstGeom>
        </p:spPr>
        <p:txBody>
          <a:bodyPr vert="horz" lIns="93360" tIns="46680" rIns="93360" bIns="46680" rtlCol="0" anchor="b"/>
          <a:lstStyle>
            <a:lvl1pPr algn="r">
              <a:defRPr sz="1200"/>
            </a:lvl1pPr>
          </a:lstStyle>
          <a:p>
            <a:fld id="{CBEFC1D6-E859-419F-814A-2C87BA1BC887}" type="slidenum">
              <a:rPr lang="en-US" smtClean="0"/>
              <a:t>‹#›</a:t>
            </a:fld>
            <a:endParaRPr lang="en-US"/>
          </a:p>
        </p:txBody>
      </p:sp>
    </p:spTree>
    <p:extLst>
      <p:ext uri="{BB962C8B-B14F-4D97-AF65-F5344CB8AC3E}">
        <p14:creationId xmlns:p14="http://schemas.microsoft.com/office/powerpoint/2010/main" val="1398825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BEFC1D6-E859-419F-814A-2C87BA1BC887}" type="slidenum">
              <a:rPr lang="en-US" smtClean="0"/>
              <a:t>1</a:t>
            </a:fld>
            <a:endParaRPr lang="en-US"/>
          </a:p>
        </p:txBody>
      </p:sp>
    </p:spTree>
    <p:extLst>
      <p:ext uri="{BB962C8B-B14F-4D97-AF65-F5344CB8AC3E}">
        <p14:creationId xmlns:p14="http://schemas.microsoft.com/office/powerpoint/2010/main" val="2454732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77B0AD1-EEEA-4E9D-820D-594E917D39D5}" type="slidenum">
              <a:rPr lang="en-US"/>
              <a:pPr/>
              <a:t>2</a:t>
            </a:fld>
            <a:endParaRPr lang="en-US"/>
          </a:p>
        </p:txBody>
      </p:sp>
      <p:sp>
        <p:nvSpPr>
          <p:cNvPr id="17410" name="Rectangle 2"/>
          <p:cNvSpPr>
            <a:spLocks noGrp="1" noRot="1" noChangeAspect="1" noChangeArrowheads="1" noTextEdit="1"/>
          </p:cNvSpPr>
          <p:nvPr>
            <p:ph type="sldImg"/>
          </p:nvPr>
        </p:nvSpPr>
        <p:spPr>
          <a:ln cap="flat"/>
        </p:spPr>
      </p:sp>
      <p:sp>
        <p:nvSpPr>
          <p:cNvPr id="1741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194586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CBC126A-73DD-404D-AD44-024FEF4939ED}" type="slidenum">
              <a:rPr lang="en-US"/>
              <a:pPr/>
              <a:t>4</a:t>
            </a:fld>
            <a:endParaRPr lang="en-US"/>
          </a:p>
        </p:txBody>
      </p:sp>
      <p:sp>
        <p:nvSpPr>
          <p:cNvPr id="19458" name="Rectangle 2"/>
          <p:cNvSpPr>
            <a:spLocks noGrp="1" noRot="1" noChangeAspect="1" noChangeArrowheads="1" noTextEdit="1"/>
          </p:cNvSpPr>
          <p:nvPr>
            <p:ph type="sldImg"/>
          </p:nvPr>
        </p:nvSpPr>
        <p:spPr>
          <a:ln cap="flat"/>
        </p:spPr>
      </p:sp>
      <p:sp>
        <p:nvSpPr>
          <p:cNvPr id="1945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149860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3CF894A-7F95-4032-840F-E50850A95B30}" type="slidenum">
              <a:rPr lang="en-US"/>
              <a:pPr/>
              <a:t>7</a:t>
            </a:fld>
            <a:endParaRPr lang="en-US"/>
          </a:p>
        </p:txBody>
      </p:sp>
      <p:sp>
        <p:nvSpPr>
          <p:cNvPr id="21506" name="Rectangle 2"/>
          <p:cNvSpPr>
            <a:spLocks noGrp="1" noRot="1" noChangeAspect="1" noChangeArrowheads="1" noTextEdit="1"/>
          </p:cNvSpPr>
          <p:nvPr>
            <p:ph type="sldImg"/>
          </p:nvPr>
        </p:nvSpPr>
        <p:spPr>
          <a:ln cap="flat"/>
        </p:spPr>
      </p:sp>
      <p:sp>
        <p:nvSpPr>
          <p:cNvPr id="2150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579052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BA808A9-F097-4535-8D1C-2DFEC9E80A25}" type="slidenum">
              <a:rPr lang="en-US"/>
              <a:pPr/>
              <a:t>10</a:t>
            </a:fld>
            <a:endParaRPr lang="en-US"/>
          </a:p>
        </p:txBody>
      </p:sp>
      <p:sp>
        <p:nvSpPr>
          <p:cNvPr id="23554" name="Rectangle 2"/>
          <p:cNvSpPr>
            <a:spLocks noGrp="1" noRot="1" noChangeAspect="1" noChangeArrowheads="1" noTextEdit="1"/>
          </p:cNvSpPr>
          <p:nvPr>
            <p:ph type="sldImg"/>
          </p:nvPr>
        </p:nvSpPr>
        <p:spPr>
          <a:ln cap="flat"/>
        </p:spPr>
      </p:sp>
      <p:sp>
        <p:nvSpPr>
          <p:cNvPr id="2355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439384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954F5E3-A732-4208-9D2A-8072B81EF790}" type="slidenum">
              <a:rPr lang="en-US"/>
              <a:pPr/>
              <a:t>28</a:t>
            </a:fld>
            <a:endParaRPr lang="en-US"/>
          </a:p>
        </p:txBody>
      </p:sp>
      <p:sp>
        <p:nvSpPr>
          <p:cNvPr id="25602" name="Rectangle 2"/>
          <p:cNvSpPr>
            <a:spLocks noGrp="1" noRot="1" noChangeAspect="1" noChangeArrowheads="1" noTextEdit="1"/>
          </p:cNvSpPr>
          <p:nvPr>
            <p:ph type="sldImg"/>
          </p:nvPr>
        </p:nvSpPr>
        <p:spPr>
          <a:ln cap="flat"/>
        </p:spPr>
      </p:sp>
      <p:sp>
        <p:nvSpPr>
          <p:cNvPr id="2560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072727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26A3DA9-27CE-4610-A01B-EC2E463BD466}" type="slidenum">
              <a:rPr lang="en-US"/>
              <a:pPr/>
              <a:t>30</a:t>
            </a:fld>
            <a:endParaRPr lang="en-US"/>
          </a:p>
        </p:txBody>
      </p:sp>
      <p:sp>
        <p:nvSpPr>
          <p:cNvPr id="33794" name="Rectangle 2"/>
          <p:cNvSpPr>
            <a:spLocks noGrp="1" noRot="1" noChangeAspect="1" noChangeArrowheads="1" noTextEdit="1"/>
          </p:cNvSpPr>
          <p:nvPr>
            <p:ph type="sldImg"/>
          </p:nvPr>
        </p:nvSpPr>
        <p:spPr>
          <a:ln cap="flat"/>
        </p:spPr>
      </p:sp>
      <p:sp>
        <p:nvSpPr>
          <p:cNvPr id="3379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645025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FE155199-8C6A-4596-A5BB-7904F02AA957}" type="slidenum">
              <a:rPr lang="en-US"/>
              <a:pPr/>
              <a:t>31</a:t>
            </a:fld>
            <a:endParaRPr lang="en-US"/>
          </a:p>
        </p:txBody>
      </p:sp>
      <p:sp>
        <p:nvSpPr>
          <p:cNvPr id="48130" name="Rectangle 2"/>
          <p:cNvSpPr>
            <a:spLocks noGrp="1" noRot="1" noChangeAspect="1" noChangeArrowheads="1" noTextEdit="1"/>
          </p:cNvSpPr>
          <p:nvPr>
            <p:ph type="sldImg"/>
          </p:nvPr>
        </p:nvSpPr>
        <p:spPr>
          <a:ln cap="flat"/>
        </p:spPr>
      </p:sp>
      <p:sp>
        <p:nvSpPr>
          <p:cNvPr id="4813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53822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954F5E3-A732-4208-9D2A-8072B81EF790}" type="slidenum">
              <a:rPr lang="en-US"/>
              <a:pPr/>
              <a:t>38</a:t>
            </a:fld>
            <a:endParaRPr lang="en-US"/>
          </a:p>
        </p:txBody>
      </p:sp>
      <p:sp>
        <p:nvSpPr>
          <p:cNvPr id="25602" name="Rectangle 2"/>
          <p:cNvSpPr>
            <a:spLocks noGrp="1" noRot="1" noChangeAspect="1" noChangeArrowheads="1" noTextEdit="1"/>
          </p:cNvSpPr>
          <p:nvPr>
            <p:ph type="sldImg"/>
          </p:nvPr>
        </p:nvSpPr>
        <p:spPr>
          <a:ln cap="flat"/>
        </p:spPr>
      </p:sp>
      <p:sp>
        <p:nvSpPr>
          <p:cNvPr id="2560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361668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2FE2A33-A455-469D-B328-367DF4A30819}"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1647009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685800"/>
          </a:xfrm>
        </p:spPr>
        <p:txBody>
          <a:bodyPr/>
          <a:lstStyle/>
          <a:p>
            <a:r>
              <a:rPr lang="en-US"/>
              <a:t>Click to edit Master title style</a:t>
            </a:r>
          </a:p>
        </p:txBody>
      </p:sp>
      <p:sp>
        <p:nvSpPr>
          <p:cNvPr id="3" name="Content Placeholder 2"/>
          <p:cNvSpPr>
            <a:spLocks noGrp="1"/>
          </p:cNvSpPr>
          <p:nvPr>
            <p:ph idx="1"/>
          </p:nvPr>
        </p:nvSpPr>
        <p:spPr>
          <a:xfrm>
            <a:off x="152400" y="838200"/>
            <a:ext cx="8839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D19278-36C5-4620-A5AA-FEA81B0399BD}"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1137964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7BC6F-CE7D-4290-9382-1C1325F2ABA4}"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580037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A03DD5-80D4-4C27-BB3E-AEE902A421AD}"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385556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424EE8-3792-40CC-8F26-041E5A430953}" type="datetime1">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1967587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A0E53C9-E23B-4642-A5C6-C7745F7B2E5B}" type="datetime1">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415205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DAA5B-6696-47BB-944D-BD3493DA8EAF}" type="datetime1">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3649753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8DBDA3-2AB0-4D81-B6AC-E95560E5917E}"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980178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01EB7-D584-479E-B74A-1A96A48B562F}"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1461698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D824B3-65CB-4070-BB44-48A3726964A1}"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854926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C95910-2E8A-4F2C-B006-0C27B3AB05BD}"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93BAE2-A5DD-40CC-BEF0-872AF419E171}" type="slidenum">
              <a:rPr lang="en-US" smtClean="0"/>
              <a:t>‹#›</a:t>
            </a:fld>
            <a:endParaRPr lang="en-US"/>
          </a:p>
        </p:txBody>
      </p:sp>
    </p:spTree>
    <p:extLst>
      <p:ext uri="{BB962C8B-B14F-4D97-AF65-F5344CB8AC3E}">
        <p14:creationId xmlns:p14="http://schemas.microsoft.com/office/powerpoint/2010/main" val="4212484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 y="76200"/>
            <a:ext cx="8991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95400"/>
            <a:ext cx="8229600" cy="5029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14CF30-8620-452B-A458-75A91996519E}" type="datetime1">
              <a:rPr lang="en-US" smtClean="0"/>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93BAE2-A5DD-40CC-BEF0-872AF419E171}" type="slidenum">
              <a:rPr lang="en-US" smtClean="0"/>
              <a:t>‹#›</a:t>
            </a:fld>
            <a:endParaRPr lang="en-US"/>
          </a:p>
        </p:txBody>
      </p:sp>
    </p:spTree>
    <p:extLst>
      <p:ext uri="{BB962C8B-B14F-4D97-AF65-F5344CB8AC3E}">
        <p14:creationId xmlns:p14="http://schemas.microsoft.com/office/powerpoint/2010/main" val="3581725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irs.gov/pub/irs-pdf/f1040sc.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investinganswers.com/financial-dictionary/bonds/covenant-1041"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en.wikipedia.org/wiki/Board_of_directors#Election_and_remova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hyperlink" Target="https://corpgov.law.harvard.edu/2019/12/17/evolving-perspectives-on-direct-listings-after-spotify-and-slack/"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1: An Overview of Financial Management</a:t>
            </a:r>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1</a:t>
            </a:fld>
            <a:endParaRPr lang="en-US"/>
          </a:p>
        </p:txBody>
      </p:sp>
    </p:spTree>
    <p:extLst>
      <p:ext uri="{BB962C8B-B14F-4D97-AF65-F5344CB8AC3E}">
        <p14:creationId xmlns:p14="http://schemas.microsoft.com/office/powerpoint/2010/main" val="2948790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533400" y="1752600"/>
            <a:ext cx="6858000" cy="4525963"/>
          </a:xfrm>
          <a:noFill/>
          <a:ln/>
        </p:spPr>
        <p:txBody>
          <a:bodyPr/>
          <a:lstStyle/>
          <a:p>
            <a:pPr>
              <a:lnSpc>
                <a:spcPct val="90000"/>
              </a:lnSpc>
              <a:spcBef>
                <a:spcPct val="50000"/>
              </a:spcBef>
            </a:pPr>
            <a:r>
              <a:rPr lang="en-US" dirty="0"/>
              <a:t>Sole proprietorship</a:t>
            </a:r>
          </a:p>
          <a:p>
            <a:pPr>
              <a:lnSpc>
                <a:spcPct val="90000"/>
              </a:lnSpc>
              <a:spcBef>
                <a:spcPct val="50000"/>
              </a:spcBef>
            </a:pPr>
            <a:r>
              <a:rPr lang="en-US" dirty="0"/>
              <a:t>Partnership</a:t>
            </a:r>
          </a:p>
          <a:p>
            <a:pPr>
              <a:lnSpc>
                <a:spcPct val="90000"/>
              </a:lnSpc>
              <a:spcBef>
                <a:spcPct val="50000"/>
              </a:spcBef>
            </a:pPr>
            <a:r>
              <a:rPr lang="en-US" dirty="0"/>
              <a:t>Corporation</a:t>
            </a:r>
          </a:p>
        </p:txBody>
      </p:sp>
      <p:sp>
        <p:nvSpPr>
          <p:cNvPr id="2" name="Title 1"/>
          <p:cNvSpPr>
            <a:spLocks noGrp="1"/>
          </p:cNvSpPr>
          <p:nvPr>
            <p:ph type="title"/>
          </p:nvPr>
        </p:nvSpPr>
        <p:spPr/>
        <p:txBody>
          <a:bodyPr>
            <a:normAutofit fontScale="90000"/>
          </a:bodyPr>
          <a:lstStyle/>
          <a:p>
            <a:r>
              <a:rPr lang="en-US" dirty="0"/>
              <a:t>Types of business organization</a:t>
            </a:r>
          </a:p>
        </p:txBody>
      </p:sp>
    </p:spTree>
    <p:extLst>
      <p:ext uri="{BB962C8B-B14F-4D97-AF65-F5344CB8AC3E}">
        <p14:creationId xmlns:p14="http://schemas.microsoft.com/office/powerpoint/2010/main" val="200524682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Bob’s </a:t>
            </a:r>
            <a:r>
              <a:rPr lang="en-US" dirty="0"/>
              <a:t>Discount Widgets (BDW)</a:t>
            </a:r>
          </a:p>
          <a:p>
            <a:r>
              <a:rPr lang="en-US"/>
              <a:t>Bob </a:t>
            </a:r>
            <a:r>
              <a:rPr lang="en-US" dirty="0"/>
              <a:t>recently moved to Lincoln</a:t>
            </a:r>
          </a:p>
          <a:p>
            <a:r>
              <a:rPr lang="en-US" dirty="0"/>
              <a:t>Plans to open a Widgets store</a:t>
            </a:r>
          </a:p>
          <a:p>
            <a:endParaRPr lang="en-US" dirty="0"/>
          </a:p>
          <a:p>
            <a:r>
              <a:rPr lang="en-US" dirty="0"/>
              <a:t>How will he proceed?</a:t>
            </a:r>
          </a:p>
          <a:p>
            <a:pPr lvl="1"/>
            <a:r>
              <a:rPr lang="en-US" dirty="0"/>
              <a:t>Raise/provide financing</a:t>
            </a:r>
          </a:p>
          <a:p>
            <a:pPr lvl="2"/>
            <a:r>
              <a:rPr lang="en-US" dirty="0"/>
              <a:t>Bank, family members, credit card, home equity, savings</a:t>
            </a:r>
          </a:p>
          <a:p>
            <a:pPr lvl="1"/>
            <a:r>
              <a:rPr lang="en-US" dirty="0"/>
              <a:t>Lease a store, buy inventory, open for business</a:t>
            </a:r>
          </a:p>
        </p:txBody>
      </p:sp>
      <p:sp>
        <p:nvSpPr>
          <p:cNvPr id="3" name="Title 2"/>
          <p:cNvSpPr>
            <a:spLocks noGrp="1"/>
          </p:cNvSpPr>
          <p:nvPr>
            <p:ph type="title"/>
          </p:nvPr>
        </p:nvSpPr>
        <p:spPr/>
        <p:txBody>
          <a:bodyPr>
            <a:normAutofit fontScale="90000"/>
          </a:bodyPr>
          <a:lstStyle/>
          <a:p>
            <a:r>
              <a:rPr lang="en-US" dirty="0"/>
              <a:t>Example</a:t>
            </a:r>
          </a:p>
        </p:txBody>
      </p:sp>
      <p:sp>
        <p:nvSpPr>
          <p:cNvPr id="5" name="TextBox 4"/>
          <p:cNvSpPr txBox="1"/>
          <p:nvPr/>
        </p:nvSpPr>
        <p:spPr>
          <a:xfrm>
            <a:off x="1524000" y="5816025"/>
            <a:ext cx="6324600"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dirty="0"/>
              <a:t>This is a sole proprietorship</a:t>
            </a:r>
          </a:p>
        </p:txBody>
      </p:sp>
      <p:pic>
        <p:nvPicPr>
          <p:cNvPr id="1026" name="Picture 2" descr="https://nelioabtesting.com/wp-content/uploads/2015/05/4.1_widget-type.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781800" y="577334"/>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42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5" name="Rectangle 3"/>
          <p:cNvSpPr>
            <a:spLocks noGrp="1" noChangeArrowheads="1"/>
          </p:cNvSpPr>
          <p:nvPr>
            <p:ph type="body" idx="1"/>
          </p:nvPr>
        </p:nvSpPr>
        <p:spPr>
          <a:xfrm>
            <a:off x="914400" y="1676400"/>
            <a:ext cx="7543800" cy="4114800"/>
          </a:xfrm>
          <a:noFill/>
          <a:ln/>
        </p:spPr>
        <p:txBody>
          <a:bodyPr>
            <a:normAutofit fontScale="92500" lnSpcReduction="20000"/>
          </a:bodyPr>
          <a:lstStyle/>
          <a:p>
            <a:pPr>
              <a:lnSpc>
                <a:spcPct val="90000"/>
              </a:lnSpc>
            </a:pPr>
            <a:r>
              <a:rPr lang="en-US" dirty="0"/>
              <a:t>Advantages:</a:t>
            </a:r>
          </a:p>
          <a:p>
            <a:pPr lvl="1">
              <a:lnSpc>
                <a:spcPct val="90000"/>
              </a:lnSpc>
            </a:pPr>
            <a:r>
              <a:rPr lang="en-US" dirty="0"/>
              <a:t>Ease of formation</a:t>
            </a:r>
          </a:p>
          <a:p>
            <a:pPr lvl="1">
              <a:lnSpc>
                <a:spcPct val="90000"/>
              </a:lnSpc>
            </a:pPr>
            <a:r>
              <a:rPr lang="en-US" dirty="0"/>
              <a:t>Subject to few regulations</a:t>
            </a:r>
          </a:p>
          <a:p>
            <a:pPr lvl="1">
              <a:lnSpc>
                <a:spcPct val="90000"/>
              </a:lnSpc>
            </a:pPr>
            <a:r>
              <a:rPr lang="en-US" dirty="0"/>
              <a:t>No corporate income taxes</a:t>
            </a:r>
          </a:p>
          <a:p>
            <a:pPr>
              <a:lnSpc>
                <a:spcPct val="90000"/>
              </a:lnSpc>
            </a:pPr>
            <a:r>
              <a:rPr lang="en-US" dirty="0"/>
              <a:t>Disadvantages:</a:t>
            </a:r>
          </a:p>
          <a:p>
            <a:pPr lvl="1">
              <a:lnSpc>
                <a:spcPct val="90000"/>
              </a:lnSpc>
            </a:pPr>
            <a:r>
              <a:rPr lang="en-US" dirty="0"/>
              <a:t>Limited life</a:t>
            </a:r>
          </a:p>
          <a:p>
            <a:pPr lvl="1">
              <a:lnSpc>
                <a:spcPct val="90000"/>
              </a:lnSpc>
            </a:pPr>
            <a:r>
              <a:rPr lang="en-US" sz="3600">
                <a:solidFill>
                  <a:srgbClr val="FF0000"/>
                </a:solidFill>
              </a:rPr>
              <a:t>Unlimited liability</a:t>
            </a:r>
          </a:p>
          <a:p>
            <a:pPr lvl="2">
              <a:lnSpc>
                <a:spcPct val="90000"/>
              </a:lnSpc>
            </a:pPr>
            <a:r>
              <a:rPr lang="en-US" sz="3200">
                <a:solidFill>
                  <a:srgbClr val="FF0000"/>
                </a:solidFill>
              </a:rPr>
              <a:t>No distinction between private and business assets</a:t>
            </a:r>
            <a:endParaRPr lang="en-US" sz="3200" dirty="0">
              <a:solidFill>
                <a:srgbClr val="FF0000"/>
              </a:solidFill>
            </a:endParaRPr>
          </a:p>
          <a:p>
            <a:pPr lvl="1">
              <a:lnSpc>
                <a:spcPct val="90000"/>
              </a:lnSpc>
            </a:pPr>
            <a:r>
              <a:rPr lang="en-US" dirty="0"/>
              <a:t>Difficult to raise capital</a:t>
            </a:r>
          </a:p>
        </p:txBody>
      </p:sp>
      <p:sp>
        <p:nvSpPr>
          <p:cNvPr id="18436" name="Rectangle 4"/>
          <p:cNvSpPr>
            <a:spLocks noChangeArrowheads="1"/>
          </p:cNvSpPr>
          <p:nvPr/>
        </p:nvSpPr>
        <p:spPr bwMode="auto">
          <a:xfrm>
            <a:off x="685800" y="838200"/>
            <a:ext cx="7772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Sole Proprietorship</a:t>
            </a:r>
          </a:p>
        </p:txBody>
      </p:sp>
    </p:spTree>
    <p:extLst>
      <p:ext uri="{BB962C8B-B14F-4D97-AF65-F5344CB8AC3E}">
        <p14:creationId xmlns:p14="http://schemas.microsoft.com/office/powerpoint/2010/main" val="335101456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“Schedule C”</a:t>
            </a:r>
          </a:p>
        </p:txBody>
      </p:sp>
      <p:sp>
        <p:nvSpPr>
          <p:cNvPr id="3" name="Content Placeholder 2"/>
          <p:cNvSpPr>
            <a:spLocks noGrp="1"/>
          </p:cNvSpPr>
          <p:nvPr>
            <p:ph idx="1"/>
          </p:nvPr>
        </p:nvSpPr>
        <p:spPr/>
        <p:txBody>
          <a:bodyPr/>
          <a:lstStyle/>
          <a:p>
            <a:r>
              <a:rPr lang="en-US" dirty="0">
                <a:hlinkClick r:id="rId2"/>
              </a:rPr>
              <a:t>https://www.irs.gov/pub/irs-pdf/f1040sc.pdf</a:t>
            </a:r>
            <a:endParaRPr lang="en-US" dirty="0"/>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5</a:t>
            </a:fld>
            <a:endParaRPr lang="en-US"/>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3400" y="1739205"/>
            <a:ext cx="7900988" cy="4982270"/>
          </a:xfrm>
          <a:prstGeom prst="rect">
            <a:avLst/>
          </a:prstGeom>
        </p:spPr>
      </p:pic>
    </p:spTree>
    <p:extLst>
      <p:ext uri="{BB962C8B-B14F-4D97-AF65-F5344CB8AC3E}">
        <p14:creationId xmlns:p14="http://schemas.microsoft.com/office/powerpoint/2010/main" val="3834337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Partnership is much like a sole proprietor, just with more than one person</a:t>
            </a:r>
          </a:p>
          <a:p>
            <a:endParaRPr lang="en-US" dirty="0"/>
          </a:p>
          <a:p>
            <a:endParaRPr lang="en-US" dirty="0"/>
          </a:p>
          <a:p>
            <a:endParaRPr lang="en-US" dirty="0"/>
          </a:p>
          <a:p>
            <a:endParaRPr lang="en-US" dirty="0"/>
          </a:p>
          <a:p>
            <a:endParaRPr lang="en-US" dirty="0"/>
          </a:p>
          <a:p>
            <a:endParaRPr lang="en-US" dirty="0"/>
          </a:p>
          <a:p>
            <a:r>
              <a:rPr lang="en-US" dirty="0"/>
              <a:t>B&amp;K’s Discount Widgets</a:t>
            </a:r>
          </a:p>
        </p:txBody>
      </p:sp>
      <p:sp>
        <p:nvSpPr>
          <p:cNvPr id="3" name="Title 2"/>
          <p:cNvSpPr>
            <a:spLocks noGrp="1"/>
          </p:cNvSpPr>
          <p:nvPr>
            <p:ph type="title"/>
          </p:nvPr>
        </p:nvSpPr>
        <p:spPr/>
        <p:txBody>
          <a:bodyPr>
            <a:normAutofit fontScale="90000"/>
          </a:bodyPr>
          <a:lstStyle/>
          <a:p>
            <a:r>
              <a:rPr lang="en-US" dirty="0"/>
              <a:t>Partnership</a:t>
            </a:r>
          </a:p>
        </p:txBody>
      </p:sp>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38400" y="2057400"/>
            <a:ext cx="4457700" cy="2971800"/>
          </a:xfrm>
          <a:prstGeom prst="rect">
            <a:avLst/>
          </a:prstGeom>
        </p:spPr>
      </p:pic>
    </p:spTree>
    <p:extLst>
      <p:ext uri="{BB962C8B-B14F-4D97-AF65-F5344CB8AC3E}">
        <p14:creationId xmlns:p14="http://schemas.microsoft.com/office/powerpoint/2010/main" val="271170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 name="Rectangle 3"/>
          <p:cNvSpPr>
            <a:spLocks noGrp="1" noChangeArrowheads="1"/>
          </p:cNvSpPr>
          <p:nvPr>
            <p:ph type="body" idx="1"/>
          </p:nvPr>
        </p:nvSpPr>
        <p:spPr>
          <a:xfrm>
            <a:off x="762000" y="1905000"/>
            <a:ext cx="7543800" cy="2438400"/>
          </a:xfrm>
          <a:noFill/>
          <a:ln/>
        </p:spPr>
        <p:txBody>
          <a:bodyPr/>
          <a:lstStyle/>
          <a:p>
            <a:pPr>
              <a:lnSpc>
                <a:spcPct val="90000"/>
              </a:lnSpc>
            </a:pPr>
            <a:r>
              <a:rPr lang="en-US" dirty="0"/>
              <a:t>A partnership has roughly the same advantages and disadvantages as a sole proprietorship.</a:t>
            </a:r>
          </a:p>
        </p:txBody>
      </p:sp>
      <p:sp>
        <p:nvSpPr>
          <p:cNvPr id="20484" name="Rectangle 4"/>
          <p:cNvSpPr>
            <a:spLocks noChangeArrowheads="1"/>
          </p:cNvSpPr>
          <p:nvPr/>
        </p:nvSpPr>
        <p:spPr bwMode="auto">
          <a:xfrm>
            <a:off x="685800" y="808038"/>
            <a:ext cx="7696200" cy="5794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Partnership</a:t>
            </a:r>
          </a:p>
        </p:txBody>
      </p:sp>
      <p:graphicFrame>
        <p:nvGraphicFramePr>
          <p:cNvPr id="20485" name="Object 5"/>
          <p:cNvGraphicFramePr>
            <a:graphicFrameLocks noChangeAspect="1"/>
          </p:cNvGraphicFramePr>
          <p:nvPr/>
        </p:nvGraphicFramePr>
        <p:xfrm>
          <a:off x="2514600" y="3976688"/>
          <a:ext cx="4114800" cy="2195512"/>
        </p:xfrm>
        <a:graphic>
          <a:graphicData uri="http://schemas.openxmlformats.org/presentationml/2006/ole">
            <mc:AlternateContent xmlns:mc="http://schemas.openxmlformats.org/markup-compatibility/2006">
              <mc:Choice xmlns:v="urn:schemas-microsoft-com:vml" Requires="v">
                <p:oleObj name="Clip" r:id="rId3" imgW="1139884" imgH="670787" progId="">
                  <p:embed/>
                </p:oleObj>
              </mc:Choice>
              <mc:Fallback>
                <p:oleObj name="Clip" r:id="rId3" imgW="1139884" imgH="670787" progId="">
                  <p:embed/>
                  <p:pic>
                    <p:nvPicPr>
                      <p:cNvPr id="204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976688"/>
                        <a:ext cx="4114800" cy="219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12048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Success!</a:t>
            </a:r>
          </a:p>
          <a:p>
            <a:r>
              <a:rPr lang="en-US" dirty="0"/>
              <a:t>Open more stores!</a:t>
            </a:r>
          </a:p>
          <a:p>
            <a:endParaRPr lang="en-US" dirty="0"/>
          </a:p>
          <a:p>
            <a:endParaRPr lang="en-US" dirty="0"/>
          </a:p>
          <a:p>
            <a:endParaRPr lang="en-US" dirty="0"/>
          </a:p>
          <a:p>
            <a:endParaRPr lang="en-US" dirty="0"/>
          </a:p>
          <a:p>
            <a:endParaRPr lang="en-US" dirty="0"/>
          </a:p>
          <a:p>
            <a:r>
              <a:rPr lang="en-US" dirty="0"/>
              <a:t>How do I proceed?</a:t>
            </a:r>
          </a:p>
          <a:p>
            <a:pPr lvl="1"/>
            <a:r>
              <a:rPr lang="en-US" dirty="0"/>
              <a:t>I need financing</a:t>
            </a:r>
          </a:p>
        </p:txBody>
      </p:sp>
      <p:sp>
        <p:nvSpPr>
          <p:cNvPr id="3" name="Title 2"/>
          <p:cNvSpPr>
            <a:spLocks noGrp="1"/>
          </p:cNvSpPr>
          <p:nvPr>
            <p:ph type="title"/>
          </p:nvPr>
        </p:nvSpPr>
        <p:spPr/>
        <p:txBody>
          <a:bodyPr>
            <a:normAutofit fontScale="90000"/>
          </a:bodyPr>
          <a:lstStyle/>
          <a:p>
            <a:r>
              <a:rPr lang="en-US"/>
              <a:t>Bob’s </a:t>
            </a:r>
            <a:r>
              <a:rPr lang="en-US" dirty="0"/>
              <a:t>Discount Widgets</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5975" y="2514600"/>
            <a:ext cx="3629025" cy="1821465"/>
          </a:xfrm>
          <a:prstGeom prst="rect">
            <a:avLst/>
          </a:prstGeom>
        </p:spPr>
      </p:pic>
    </p:spTree>
    <p:extLst>
      <p:ext uri="{BB962C8B-B14F-4D97-AF65-F5344CB8AC3E}">
        <p14:creationId xmlns:p14="http://schemas.microsoft.com/office/powerpoint/2010/main" val="1910256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At some point, it becomes difficult for sole proprietors to raise money because of:</a:t>
            </a:r>
          </a:p>
          <a:p>
            <a:pPr lvl="1"/>
            <a:r>
              <a:rPr lang="en-US" b="1" dirty="0">
                <a:solidFill>
                  <a:srgbClr val="FF0000"/>
                </a:solidFill>
              </a:rPr>
              <a:t>Unlimited liability</a:t>
            </a:r>
          </a:p>
          <a:p>
            <a:pPr lvl="1"/>
            <a:r>
              <a:rPr lang="en-US" dirty="0"/>
              <a:t>Limited life</a:t>
            </a:r>
          </a:p>
          <a:p>
            <a:pPr lvl="1"/>
            <a:endParaRPr lang="en-US" dirty="0"/>
          </a:p>
          <a:p>
            <a:r>
              <a:rPr lang="en-US" dirty="0"/>
              <a:t>To continue to grow, most companies have to incorporate</a:t>
            </a:r>
          </a:p>
          <a:p>
            <a:pPr lvl="1"/>
            <a:r>
              <a:rPr lang="en-US" dirty="0"/>
              <a:t>“A corporation is a distinct, permanent legal entity”</a:t>
            </a:r>
          </a:p>
          <a:p>
            <a:pPr lvl="1"/>
            <a:endParaRPr lang="en-US" dirty="0"/>
          </a:p>
        </p:txBody>
      </p:sp>
      <p:sp>
        <p:nvSpPr>
          <p:cNvPr id="3" name="Title 2"/>
          <p:cNvSpPr>
            <a:spLocks noGrp="1"/>
          </p:cNvSpPr>
          <p:nvPr>
            <p:ph type="title"/>
          </p:nvPr>
        </p:nvSpPr>
        <p:spPr/>
        <p:txBody>
          <a:bodyPr>
            <a:normAutofit fontScale="90000"/>
          </a:bodyPr>
          <a:lstStyle/>
          <a:p>
            <a:r>
              <a:rPr lang="en-US" dirty="0"/>
              <a:t>Decision to incorporate</a:t>
            </a:r>
          </a:p>
        </p:txBody>
      </p:sp>
    </p:spTree>
    <p:extLst>
      <p:ext uri="{BB962C8B-B14F-4D97-AF65-F5344CB8AC3E}">
        <p14:creationId xmlns:p14="http://schemas.microsoft.com/office/powerpoint/2010/main" val="3542649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 name="Rectangle 3"/>
          <p:cNvSpPr>
            <a:spLocks noGrp="1" noChangeArrowheads="1"/>
          </p:cNvSpPr>
          <p:nvPr>
            <p:ph type="body" idx="1"/>
          </p:nvPr>
        </p:nvSpPr>
        <p:spPr>
          <a:xfrm>
            <a:off x="914400" y="1981200"/>
            <a:ext cx="7543800" cy="4114800"/>
          </a:xfrm>
          <a:noFill/>
          <a:ln/>
        </p:spPr>
        <p:txBody>
          <a:bodyPr/>
          <a:lstStyle/>
          <a:p>
            <a:pPr>
              <a:lnSpc>
                <a:spcPct val="90000"/>
              </a:lnSpc>
            </a:pPr>
            <a:r>
              <a:rPr lang="en-US" dirty="0"/>
              <a:t>Advantages:</a:t>
            </a:r>
          </a:p>
          <a:p>
            <a:pPr lvl="1">
              <a:lnSpc>
                <a:spcPct val="90000"/>
              </a:lnSpc>
            </a:pPr>
            <a:r>
              <a:rPr lang="en-US" dirty="0"/>
              <a:t>Unlimited life</a:t>
            </a:r>
          </a:p>
          <a:p>
            <a:pPr lvl="1">
              <a:lnSpc>
                <a:spcPct val="90000"/>
              </a:lnSpc>
            </a:pPr>
            <a:r>
              <a:rPr lang="en-US" dirty="0"/>
              <a:t>Easy transfer of ownership</a:t>
            </a:r>
          </a:p>
          <a:p>
            <a:pPr lvl="1">
              <a:lnSpc>
                <a:spcPct val="90000"/>
              </a:lnSpc>
            </a:pPr>
            <a:r>
              <a:rPr lang="en-US" b="1" dirty="0">
                <a:solidFill>
                  <a:srgbClr val="FF0000"/>
                </a:solidFill>
              </a:rPr>
              <a:t>Limited liability</a:t>
            </a:r>
          </a:p>
          <a:p>
            <a:pPr lvl="1">
              <a:lnSpc>
                <a:spcPct val="90000"/>
              </a:lnSpc>
            </a:pPr>
            <a:r>
              <a:rPr lang="en-US" dirty="0"/>
              <a:t>Ease of raising capital</a:t>
            </a:r>
          </a:p>
          <a:p>
            <a:pPr>
              <a:lnSpc>
                <a:spcPct val="90000"/>
              </a:lnSpc>
            </a:pPr>
            <a:r>
              <a:rPr lang="en-US" dirty="0"/>
              <a:t>Disadvantages:</a:t>
            </a:r>
          </a:p>
          <a:p>
            <a:pPr lvl="1">
              <a:lnSpc>
                <a:spcPct val="90000"/>
              </a:lnSpc>
            </a:pPr>
            <a:r>
              <a:rPr lang="en-US" b="1" dirty="0">
                <a:solidFill>
                  <a:srgbClr val="FF0000"/>
                </a:solidFill>
              </a:rPr>
              <a:t>Double taxation (except for S-Corp)</a:t>
            </a:r>
          </a:p>
          <a:p>
            <a:pPr lvl="1">
              <a:lnSpc>
                <a:spcPct val="90000"/>
              </a:lnSpc>
            </a:pPr>
            <a:r>
              <a:rPr lang="en-US" dirty="0"/>
              <a:t>Cost of set-up and report filing</a:t>
            </a:r>
          </a:p>
        </p:txBody>
      </p:sp>
      <p:sp>
        <p:nvSpPr>
          <p:cNvPr id="22532" name="Rectangle 4"/>
          <p:cNvSpPr>
            <a:spLocks noChangeArrowheads="1"/>
          </p:cNvSpPr>
          <p:nvPr/>
        </p:nvSpPr>
        <p:spPr bwMode="auto">
          <a:xfrm>
            <a:off x="685800" y="808038"/>
            <a:ext cx="769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Corporation</a:t>
            </a:r>
          </a:p>
        </p:txBody>
      </p:sp>
    </p:spTree>
    <p:extLst>
      <p:ext uri="{BB962C8B-B14F-4D97-AF65-F5344CB8AC3E}">
        <p14:creationId xmlns:p14="http://schemas.microsoft.com/office/powerpoint/2010/main" val="262880926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Image result"/>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90600" y="2667000"/>
            <a:ext cx="6781800" cy="46737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US" dirty="0"/>
              <a:t>Corporate Governance</a:t>
            </a:r>
          </a:p>
        </p:txBody>
      </p:sp>
      <p:sp>
        <p:nvSpPr>
          <p:cNvPr id="3" name="Content Placeholder 2"/>
          <p:cNvSpPr>
            <a:spLocks noGrp="1"/>
          </p:cNvSpPr>
          <p:nvPr>
            <p:ph idx="1"/>
          </p:nvPr>
        </p:nvSpPr>
        <p:spPr/>
        <p:txBody>
          <a:bodyPr/>
          <a:lstStyle/>
          <a:p>
            <a:r>
              <a:rPr lang="en-US" dirty="0"/>
              <a:t>Important topic within finance</a:t>
            </a:r>
          </a:p>
          <a:p>
            <a:r>
              <a:rPr lang="en-US" dirty="0"/>
              <a:t>It’s the process by which corporations are controlled and directed</a:t>
            </a:r>
          </a:p>
          <a:p>
            <a:r>
              <a:rPr lang="en-US" dirty="0"/>
              <a:t>Attempts to solve agency problems</a:t>
            </a:r>
          </a:p>
        </p:txBody>
      </p:sp>
      <p:sp>
        <p:nvSpPr>
          <p:cNvPr id="4" name="Slide Number Placeholder 3"/>
          <p:cNvSpPr>
            <a:spLocks noGrp="1"/>
          </p:cNvSpPr>
          <p:nvPr>
            <p:ph type="sldNum" sz="quarter" idx="12"/>
          </p:nvPr>
        </p:nvSpPr>
        <p:spPr/>
        <p:txBody>
          <a:bodyPr/>
          <a:lstStyle/>
          <a:p>
            <a:fld id="{0393BAE2-A5DD-40CC-BEF0-872AF419E171}" type="slidenum">
              <a:rPr lang="en-US" smtClean="0"/>
              <a:t>11</a:t>
            </a:fld>
            <a:endParaRPr lang="en-US"/>
          </a:p>
        </p:txBody>
      </p:sp>
    </p:spTree>
    <p:extLst>
      <p:ext uri="{BB962C8B-B14F-4D97-AF65-F5344CB8AC3E}">
        <p14:creationId xmlns:p14="http://schemas.microsoft.com/office/powerpoint/2010/main" val="3289519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Agency Problems within Corporations</a:t>
            </a:r>
          </a:p>
        </p:txBody>
      </p:sp>
      <p:sp>
        <p:nvSpPr>
          <p:cNvPr id="3" name="Content Placeholder 2"/>
          <p:cNvSpPr>
            <a:spLocks noGrp="1"/>
          </p:cNvSpPr>
          <p:nvPr>
            <p:ph idx="1"/>
          </p:nvPr>
        </p:nvSpPr>
        <p:spPr/>
        <p:txBody>
          <a:bodyPr>
            <a:normAutofit fontScale="92500" lnSpcReduction="20000"/>
          </a:bodyPr>
          <a:lstStyle/>
          <a:p>
            <a:r>
              <a:rPr lang="en-US" b="1" dirty="0"/>
              <a:t>Stockholder-manager</a:t>
            </a:r>
            <a:r>
              <a:rPr lang="en-US" dirty="0"/>
              <a:t> conflicts</a:t>
            </a:r>
          </a:p>
          <a:p>
            <a:pPr lvl="1"/>
            <a:r>
              <a:rPr lang="en-US" dirty="0"/>
              <a:t>Manager wants to use company jet for personal vacation; shareholders do not want to pay for this.</a:t>
            </a:r>
          </a:p>
          <a:p>
            <a:pPr lvl="1"/>
            <a:r>
              <a:rPr lang="en-US" dirty="0"/>
              <a:t>Manager doesn’t want to fire inept friends at company; shareholders want dead wood gone.</a:t>
            </a:r>
          </a:p>
          <a:p>
            <a:endParaRPr lang="en-US" dirty="0"/>
          </a:p>
          <a:p>
            <a:r>
              <a:rPr lang="en-US" b="1" dirty="0"/>
              <a:t>Stockholder-debtholder</a:t>
            </a:r>
            <a:r>
              <a:rPr lang="en-US" dirty="0"/>
              <a:t> conflicts</a:t>
            </a:r>
          </a:p>
          <a:p>
            <a:pPr lvl="1"/>
            <a:r>
              <a:rPr lang="en-US" dirty="0"/>
              <a:t>Debtholders are guaranteed a modest return – if company doesn’t go bankrupt</a:t>
            </a:r>
          </a:p>
          <a:p>
            <a:pPr lvl="1"/>
            <a:r>
              <a:rPr lang="en-US" dirty="0"/>
              <a:t>Stockholders get what is left over</a:t>
            </a:r>
          </a:p>
          <a:p>
            <a:pPr lvl="1"/>
            <a:r>
              <a:rPr lang="en-US" dirty="0"/>
              <a:t>Stockholders have incentive to “roll the dice” and take excessive risks. This conflict is more severe for companies with more debt (since the equity value is basically zero anyway)</a:t>
            </a:r>
          </a:p>
        </p:txBody>
      </p:sp>
      <p:sp>
        <p:nvSpPr>
          <p:cNvPr id="4" name="Slide Number Placeholder 3"/>
          <p:cNvSpPr>
            <a:spLocks noGrp="1"/>
          </p:cNvSpPr>
          <p:nvPr>
            <p:ph type="sldNum" sz="quarter" idx="12"/>
          </p:nvPr>
        </p:nvSpPr>
        <p:spPr/>
        <p:txBody>
          <a:bodyPr/>
          <a:lstStyle/>
          <a:p>
            <a:fld id="{0393BAE2-A5DD-40CC-BEF0-872AF419E171}" type="slidenum">
              <a:rPr lang="en-US" smtClean="0"/>
              <a:t>12</a:t>
            </a:fld>
            <a:endParaRPr lang="en-US"/>
          </a:p>
        </p:txBody>
      </p:sp>
    </p:spTree>
    <p:extLst>
      <p:ext uri="{BB962C8B-B14F-4D97-AF65-F5344CB8AC3E}">
        <p14:creationId xmlns:p14="http://schemas.microsoft.com/office/powerpoint/2010/main" val="2757729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066800"/>
          </a:xfrm>
        </p:spPr>
        <p:txBody>
          <a:bodyPr>
            <a:normAutofit fontScale="90000"/>
          </a:bodyPr>
          <a:lstStyle/>
          <a:p>
            <a:r>
              <a:rPr lang="en-US" dirty="0"/>
              <a:t>Agency issues: Management vs Shareholders</a:t>
            </a:r>
          </a:p>
        </p:txBody>
      </p:sp>
      <p:sp>
        <p:nvSpPr>
          <p:cNvPr id="3" name="Content Placeholder 2"/>
          <p:cNvSpPr>
            <a:spLocks noGrp="1"/>
          </p:cNvSpPr>
          <p:nvPr>
            <p:ph idx="1"/>
          </p:nvPr>
        </p:nvSpPr>
        <p:spPr>
          <a:xfrm>
            <a:off x="152400" y="1219200"/>
            <a:ext cx="8839200" cy="5105400"/>
          </a:xfrm>
        </p:spPr>
        <p:txBody>
          <a:bodyPr/>
          <a:lstStyle/>
          <a:p>
            <a:r>
              <a:rPr lang="en-US" dirty="0"/>
              <a:t>Shareholders demand good stock performance</a:t>
            </a:r>
          </a:p>
          <a:p>
            <a:r>
              <a:rPr lang="en-US" dirty="0"/>
              <a:t>Management may want to:</a:t>
            </a:r>
          </a:p>
          <a:p>
            <a:pPr lvl="1"/>
            <a:r>
              <a:rPr lang="en-US" dirty="0"/>
              <a:t>use corporate jets for private purposes</a:t>
            </a:r>
          </a:p>
          <a:p>
            <a:pPr lvl="1"/>
            <a:r>
              <a:rPr lang="en-US" dirty="0"/>
              <a:t>not work very hard</a:t>
            </a:r>
          </a:p>
          <a:p>
            <a:r>
              <a:rPr lang="en-US" dirty="0"/>
              <a:t>One common method of aligning the incentives of managers and shareholders is the use of stock options.</a:t>
            </a:r>
          </a:p>
          <a:p>
            <a:pPr lvl="1"/>
            <a:r>
              <a:rPr lang="en-US" dirty="0"/>
              <a:t>What is a stock option?</a:t>
            </a:r>
          </a:p>
          <a:p>
            <a:pPr lvl="1"/>
            <a:r>
              <a:rPr lang="en-US" dirty="0"/>
              <a:t>How do they work?</a:t>
            </a:r>
          </a:p>
        </p:txBody>
      </p:sp>
      <p:sp>
        <p:nvSpPr>
          <p:cNvPr id="4" name="Slide Number Placeholder 3"/>
          <p:cNvSpPr>
            <a:spLocks noGrp="1"/>
          </p:cNvSpPr>
          <p:nvPr>
            <p:ph type="sldNum" sz="quarter" idx="12"/>
          </p:nvPr>
        </p:nvSpPr>
        <p:spPr/>
        <p:txBody>
          <a:bodyPr/>
          <a:lstStyle/>
          <a:p>
            <a:fld id="{0393BAE2-A5DD-40CC-BEF0-872AF419E171}" type="slidenum">
              <a:rPr lang="en-US" smtClean="0"/>
              <a:t>13</a:t>
            </a:fld>
            <a:endParaRPr lang="en-US"/>
          </a:p>
        </p:txBody>
      </p:sp>
    </p:spTree>
    <p:extLst>
      <p:ext uri="{BB962C8B-B14F-4D97-AF65-F5344CB8AC3E}">
        <p14:creationId xmlns:p14="http://schemas.microsoft.com/office/powerpoint/2010/main" val="3552733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a call option on a stock?</a:t>
            </a:r>
          </a:p>
        </p:txBody>
      </p:sp>
      <p:sp>
        <p:nvSpPr>
          <p:cNvPr id="3" name="Content Placeholder 2"/>
          <p:cNvSpPr>
            <a:spLocks noGrp="1"/>
          </p:cNvSpPr>
          <p:nvPr>
            <p:ph idx="1"/>
          </p:nvPr>
        </p:nvSpPr>
        <p:spPr>
          <a:xfrm>
            <a:off x="152400" y="838199"/>
            <a:ext cx="8839200" cy="2072847"/>
          </a:xfrm>
        </p:spPr>
        <p:txBody>
          <a:bodyPr>
            <a:normAutofit fontScale="92500" lnSpcReduction="10000"/>
          </a:bodyPr>
          <a:lstStyle/>
          <a:p>
            <a:r>
              <a:rPr lang="en-US" dirty="0"/>
              <a:t>Ability (not obligation) to purchase a stock at a given price (“the strike price”) and time.</a:t>
            </a:r>
          </a:p>
          <a:p>
            <a:r>
              <a:rPr lang="en-US" dirty="0"/>
              <a:t>The below call option has a strike price of $50.</a:t>
            </a:r>
          </a:p>
          <a:p>
            <a:r>
              <a:rPr lang="en-US" dirty="0"/>
              <a:t>The call option is worthless at stock prices below $50.</a:t>
            </a:r>
          </a:p>
        </p:txBody>
      </p:sp>
      <p:sp>
        <p:nvSpPr>
          <p:cNvPr id="4" name="Slide Number Placeholder 3"/>
          <p:cNvSpPr>
            <a:spLocks noGrp="1"/>
          </p:cNvSpPr>
          <p:nvPr>
            <p:ph type="sldNum" sz="quarter" idx="12"/>
          </p:nvPr>
        </p:nvSpPr>
        <p:spPr/>
        <p:txBody>
          <a:bodyPr/>
          <a:lstStyle/>
          <a:p>
            <a:fld id="{0393BAE2-A5DD-40CC-BEF0-872AF419E171}" type="slidenum">
              <a:rPr lang="en-US" smtClean="0"/>
              <a:t>14</a:t>
            </a:fld>
            <a:endParaRPr lang="en-US"/>
          </a:p>
        </p:txBody>
      </p:sp>
      <p:pic>
        <p:nvPicPr>
          <p:cNvPr id="1026" name="Picture 2" descr="https://datanitro.com/img/payoff/call.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71600" y="3093610"/>
            <a:ext cx="5919788" cy="3445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01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B8BD88-2D25-3DEB-5978-EC64D31AA32E}"/>
              </a:ext>
            </a:extLst>
          </p:cNvPr>
          <p:cNvSpPr>
            <a:spLocks noGrp="1"/>
          </p:cNvSpPr>
          <p:nvPr>
            <p:ph type="sldNum" sz="quarter" idx="12"/>
          </p:nvPr>
        </p:nvSpPr>
        <p:spPr/>
        <p:txBody>
          <a:bodyPr/>
          <a:lstStyle/>
          <a:p>
            <a:fld id="{0393BAE2-A5DD-40CC-BEF0-872AF419E171}" type="slidenum">
              <a:rPr lang="en-US" smtClean="0"/>
              <a:t>15</a:t>
            </a:fld>
            <a:endParaRPr lang="en-US"/>
          </a:p>
        </p:txBody>
      </p:sp>
      <p:pic>
        <p:nvPicPr>
          <p:cNvPr id="8" name="Picture 7">
            <a:extLst>
              <a:ext uri="{FF2B5EF4-FFF2-40B4-BE49-F238E27FC236}">
                <a16:creationId xmlns:a16="http://schemas.microsoft.com/office/drawing/2014/main" id="{CA45696B-C2BF-5764-7A63-07696682EE54}"/>
              </a:ext>
            </a:extLst>
          </p:cNvPr>
          <p:cNvPicPr>
            <a:picLocks noChangeAspect="1"/>
          </p:cNvPicPr>
          <p:nvPr/>
        </p:nvPicPr>
        <p:blipFill>
          <a:blip r:embed="rId2"/>
          <a:stretch>
            <a:fillRect/>
          </a:stretch>
        </p:blipFill>
        <p:spPr>
          <a:xfrm>
            <a:off x="1600200" y="4776881"/>
            <a:ext cx="5442143" cy="1906317"/>
          </a:xfrm>
          <a:prstGeom prst="rect">
            <a:avLst/>
          </a:prstGeom>
        </p:spPr>
      </p:pic>
      <p:pic>
        <p:nvPicPr>
          <p:cNvPr id="10" name="Picture 9">
            <a:extLst>
              <a:ext uri="{FF2B5EF4-FFF2-40B4-BE49-F238E27FC236}">
                <a16:creationId xmlns:a16="http://schemas.microsoft.com/office/drawing/2014/main" id="{737C12DB-EFE6-4B87-042B-E8C3B0C708F9}"/>
              </a:ext>
            </a:extLst>
          </p:cNvPr>
          <p:cNvPicPr>
            <a:picLocks noChangeAspect="1"/>
          </p:cNvPicPr>
          <p:nvPr/>
        </p:nvPicPr>
        <p:blipFill>
          <a:blip r:embed="rId3"/>
          <a:stretch>
            <a:fillRect/>
          </a:stretch>
        </p:blipFill>
        <p:spPr>
          <a:xfrm>
            <a:off x="1625384" y="1447800"/>
            <a:ext cx="5416959" cy="3276600"/>
          </a:xfrm>
          <a:prstGeom prst="rect">
            <a:avLst/>
          </a:prstGeom>
        </p:spPr>
      </p:pic>
      <p:pic>
        <p:nvPicPr>
          <p:cNvPr id="14" name="Picture 13">
            <a:extLst>
              <a:ext uri="{FF2B5EF4-FFF2-40B4-BE49-F238E27FC236}">
                <a16:creationId xmlns:a16="http://schemas.microsoft.com/office/drawing/2014/main" id="{39DF380B-1AA1-18CB-52F5-487F0EFFE7B0}"/>
              </a:ext>
            </a:extLst>
          </p:cNvPr>
          <p:cNvPicPr>
            <a:picLocks noChangeAspect="1"/>
          </p:cNvPicPr>
          <p:nvPr/>
        </p:nvPicPr>
        <p:blipFill>
          <a:blip r:embed="rId4"/>
          <a:stretch>
            <a:fillRect/>
          </a:stretch>
        </p:blipFill>
        <p:spPr>
          <a:xfrm>
            <a:off x="1600200" y="98244"/>
            <a:ext cx="4419600" cy="1306104"/>
          </a:xfrm>
          <a:prstGeom prst="rect">
            <a:avLst/>
          </a:prstGeom>
        </p:spPr>
      </p:pic>
    </p:spTree>
    <p:extLst>
      <p:ext uri="{BB962C8B-B14F-4D97-AF65-F5344CB8AC3E}">
        <p14:creationId xmlns:p14="http://schemas.microsoft.com/office/powerpoint/2010/main" val="947015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C0D58-3CC9-5ABB-0BFA-C0ACC6AB3E0D}"/>
              </a:ext>
            </a:extLst>
          </p:cNvPr>
          <p:cNvSpPr>
            <a:spLocks noGrp="1"/>
          </p:cNvSpPr>
          <p:nvPr>
            <p:ph type="title"/>
          </p:nvPr>
        </p:nvSpPr>
        <p:spPr/>
        <p:txBody>
          <a:bodyPr>
            <a:normAutofit fontScale="90000"/>
          </a:bodyPr>
          <a:lstStyle/>
          <a:p>
            <a:r>
              <a:rPr lang="en-US" dirty="0"/>
              <a:t>What is a call option on a stock?</a:t>
            </a:r>
          </a:p>
        </p:txBody>
      </p:sp>
      <p:sp>
        <p:nvSpPr>
          <p:cNvPr id="3" name="Content Placeholder 2">
            <a:extLst>
              <a:ext uri="{FF2B5EF4-FFF2-40B4-BE49-F238E27FC236}">
                <a16:creationId xmlns:a16="http://schemas.microsoft.com/office/drawing/2014/main" id="{EA46A766-8BCA-49B0-2A7A-7551A4DBEC92}"/>
              </a:ext>
            </a:extLst>
          </p:cNvPr>
          <p:cNvSpPr>
            <a:spLocks noGrp="1"/>
          </p:cNvSpPr>
          <p:nvPr>
            <p:ph idx="1"/>
          </p:nvPr>
        </p:nvSpPr>
        <p:spPr>
          <a:xfrm>
            <a:off x="152400" y="838199"/>
            <a:ext cx="8839200" cy="5883275"/>
          </a:xfrm>
        </p:spPr>
        <p:txBody>
          <a:bodyPr>
            <a:normAutofit/>
          </a:bodyPr>
          <a:lstStyle/>
          <a:p>
            <a:r>
              <a:rPr lang="en-US" dirty="0"/>
              <a:t>Options formulas:</a:t>
            </a:r>
          </a:p>
          <a:p>
            <a:endParaRPr lang="en-US" dirty="0"/>
          </a:p>
          <a:p>
            <a:endParaRPr lang="en-US" dirty="0"/>
          </a:p>
          <a:p>
            <a:endParaRPr lang="en-US" dirty="0"/>
          </a:p>
          <a:p>
            <a:endParaRPr lang="en-US" dirty="0"/>
          </a:p>
          <a:p>
            <a:endParaRPr lang="en-US" dirty="0"/>
          </a:p>
          <a:p>
            <a:r>
              <a:rPr lang="en-US" dirty="0"/>
              <a:t>S</a:t>
            </a:r>
            <a:r>
              <a:rPr lang="en-US" baseline="-25000" dirty="0"/>
              <a:t>T</a:t>
            </a:r>
            <a:r>
              <a:rPr lang="en-US" dirty="0"/>
              <a:t> is the stock price at expiration of the option.</a:t>
            </a:r>
          </a:p>
          <a:p>
            <a:r>
              <a:rPr lang="en-US" dirty="0"/>
              <a:t>K is the strike price.</a:t>
            </a:r>
          </a:p>
          <a:p>
            <a:r>
              <a:rPr lang="en-US" dirty="0"/>
              <a:t>You can ignore everything not highlighted in above table.</a:t>
            </a:r>
          </a:p>
          <a:p>
            <a:endParaRPr lang="en-US" dirty="0"/>
          </a:p>
        </p:txBody>
      </p:sp>
      <p:sp>
        <p:nvSpPr>
          <p:cNvPr id="4" name="Slide Number Placeholder 3">
            <a:extLst>
              <a:ext uri="{FF2B5EF4-FFF2-40B4-BE49-F238E27FC236}">
                <a16:creationId xmlns:a16="http://schemas.microsoft.com/office/drawing/2014/main" id="{4B63C4FD-69C6-55F1-8C41-1966EDE70C45}"/>
              </a:ext>
            </a:extLst>
          </p:cNvPr>
          <p:cNvSpPr>
            <a:spLocks noGrp="1"/>
          </p:cNvSpPr>
          <p:nvPr>
            <p:ph type="sldNum" sz="quarter" idx="12"/>
          </p:nvPr>
        </p:nvSpPr>
        <p:spPr/>
        <p:txBody>
          <a:bodyPr/>
          <a:lstStyle/>
          <a:p>
            <a:fld id="{0393BAE2-A5DD-40CC-BEF0-872AF419E171}" type="slidenum">
              <a:rPr lang="en-US" smtClean="0"/>
              <a:t>16</a:t>
            </a:fld>
            <a:endParaRPr lang="en-US"/>
          </a:p>
        </p:txBody>
      </p:sp>
      <p:pic>
        <p:nvPicPr>
          <p:cNvPr id="8" name="Picture 7">
            <a:extLst>
              <a:ext uri="{FF2B5EF4-FFF2-40B4-BE49-F238E27FC236}">
                <a16:creationId xmlns:a16="http://schemas.microsoft.com/office/drawing/2014/main" id="{7AD5960C-F3AD-66FB-280A-CB0D37882153}"/>
              </a:ext>
            </a:extLst>
          </p:cNvPr>
          <p:cNvPicPr>
            <a:picLocks noChangeAspect="1"/>
          </p:cNvPicPr>
          <p:nvPr/>
        </p:nvPicPr>
        <p:blipFill>
          <a:blip r:embed="rId2"/>
          <a:stretch>
            <a:fillRect/>
          </a:stretch>
        </p:blipFill>
        <p:spPr>
          <a:xfrm>
            <a:off x="216877" y="1600200"/>
            <a:ext cx="8710246" cy="2585683"/>
          </a:xfrm>
          <a:prstGeom prst="rect">
            <a:avLst/>
          </a:prstGeom>
        </p:spPr>
      </p:pic>
    </p:spTree>
    <p:extLst>
      <p:ext uri="{BB962C8B-B14F-4D97-AF65-F5344CB8AC3E}">
        <p14:creationId xmlns:p14="http://schemas.microsoft.com/office/powerpoint/2010/main" val="3739488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066800"/>
          </a:xfrm>
        </p:spPr>
        <p:txBody>
          <a:bodyPr>
            <a:normAutofit fontScale="90000"/>
          </a:bodyPr>
          <a:lstStyle/>
          <a:p>
            <a:r>
              <a:rPr lang="en-US" dirty="0"/>
              <a:t>Agency issues: Debtholders vs Shareholders</a:t>
            </a:r>
          </a:p>
        </p:txBody>
      </p:sp>
      <p:sp>
        <p:nvSpPr>
          <p:cNvPr id="3" name="Content Placeholder 2"/>
          <p:cNvSpPr>
            <a:spLocks noGrp="1"/>
          </p:cNvSpPr>
          <p:nvPr>
            <p:ph idx="1"/>
          </p:nvPr>
        </p:nvSpPr>
        <p:spPr>
          <a:xfrm>
            <a:off x="152400" y="1219200"/>
            <a:ext cx="8839200" cy="5105400"/>
          </a:xfrm>
        </p:spPr>
        <p:txBody>
          <a:bodyPr>
            <a:normAutofit/>
          </a:bodyPr>
          <a:lstStyle/>
          <a:p>
            <a:r>
              <a:rPr lang="en-US" dirty="0"/>
              <a:t>Debtholders usually get fixed return on debt</a:t>
            </a:r>
          </a:p>
          <a:p>
            <a:r>
              <a:rPr lang="en-US" dirty="0"/>
              <a:t>Equity holders get what’s left over; “residual claimants”</a:t>
            </a:r>
          </a:p>
        </p:txBody>
      </p:sp>
      <p:sp>
        <p:nvSpPr>
          <p:cNvPr id="4" name="Slide Number Placeholder 3"/>
          <p:cNvSpPr>
            <a:spLocks noGrp="1"/>
          </p:cNvSpPr>
          <p:nvPr>
            <p:ph type="sldNum" sz="quarter" idx="12"/>
          </p:nvPr>
        </p:nvSpPr>
        <p:spPr/>
        <p:txBody>
          <a:bodyPr/>
          <a:lstStyle/>
          <a:p>
            <a:fld id="{0393BAE2-A5DD-40CC-BEF0-872AF419E171}" type="slidenum">
              <a:rPr lang="en-US" smtClean="0"/>
              <a:t>17</a:t>
            </a:fld>
            <a:endParaRPr lang="en-US"/>
          </a:p>
        </p:txBody>
      </p:sp>
    </p:spTree>
    <p:extLst>
      <p:ext uri="{BB962C8B-B14F-4D97-AF65-F5344CB8AC3E}">
        <p14:creationId xmlns:p14="http://schemas.microsoft.com/office/powerpoint/2010/main" val="1006644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066800"/>
          </a:xfrm>
        </p:spPr>
        <p:txBody>
          <a:bodyPr>
            <a:normAutofit fontScale="90000"/>
          </a:bodyPr>
          <a:lstStyle/>
          <a:p>
            <a:r>
              <a:rPr lang="en-US" dirty="0"/>
              <a:t>Agency issues: Debtholders vs Shareholders</a:t>
            </a:r>
          </a:p>
        </p:txBody>
      </p:sp>
      <p:sp>
        <p:nvSpPr>
          <p:cNvPr id="3" name="Content Placeholder 2"/>
          <p:cNvSpPr>
            <a:spLocks noGrp="1"/>
          </p:cNvSpPr>
          <p:nvPr>
            <p:ph idx="1"/>
          </p:nvPr>
        </p:nvSpPr>
        <p:spPr>
          <a:xfrm>
            <a:off x="152400" y="1219200"/>
            <a:ext cx="8839200" cy="5105400"/>
          </a:xfrm>
        </p:spPr>
        <p:txBody>
          <a:bodyPr>
            <a:normAutofit fontScale="92500" lnSpcReduction="10000"/>
          </a:bodyPr>
          <a:lstStyle/>
          <a:p>
            <a:r>
              <a:rPr lang="en-US" dirty="0"/>
              <a:t>Assume a firm is funded with $50M of debt with a 5% interest rate + $50M of equity. The firm takes the $100M of funding and invests in one of two projects (each have duration of one year):</a:t>
            </a:r>
          </a:p>
          <a:p>
            <a:pPr lvl="1"/>
            <a:r>
              <a:rPr lang="en-US" dirty="0"/>
              <a:t>Project A has a guaranteed return of 7% (leaving firm worth $107M)</a:t>
            </a:r>
          </a:p>
          <a:p>
            <a:pPr lvl="1"/>
            <a:r>
              <a:rPr lang="en-US" dirty="0"/>
              <a:t>Project B has a 50% chance of failure (leaving firm worthless) and a 50% chance of a 100% return (leaving firm worth $200M)</a:t>
            </a:r>
          </a:p>
          <a:p>
            <a:pPr lvl="2"/>
            <a:r>
              <a:rPr lang="en-US" b="1" dirty="0"/>
              <a:t>What is the projected value of debt &amp; equity for Project A?</a:t>
            </a:r>
          </a:p>
          <a:p>
            <a:pPr lvl="2"/>
            <a:r>
              <a:rPr lang="en-US" b="1" dirty="0"/>
              <a:t>What is the expected (average) projected value of debt &amp; equity for Project B?</a:t>
            </a:r>
          </a:p>
          <a:p>
            <a:pPr lvl="1"/>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18</a:t>
            </a:fld>
            <a:endParaRPr lang="en-US"/>
          </a:p>
        </p:txBody>
      </p:sp>
    </p:spTree>
    <p:extLst>
      <p:ext uri="{BB962C8B-B14F-4D97-AF65-F5344CB8AC3E}">
        <p14:creationId xmlns:p14="http://schemas.microsoft.com/office/powerpoint/2010/main" val="4084264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Project A</a:t>
            </a:r>
          </a:p>
        </p:txBody>
      </p:sp>
      <p:sp>
        <p:nvSpPr>
          <p:cNvPr id="3" name="Content Placeholder 2"/>
          <p:cNvSpPr>
            <a:spLocks noGrp="1"/>
          </p:cNvSpPr>
          <p:nvPr>
            <p:ph idx="1"/>
          </p:nvPr>
        </p:nvSpPr>
        <p:spPr/>
        <p:txBody>
          <a:bodyPr/>
          <a:lstStyle/>
          <a:p>
            <a:r>
              <a:rPr lang="en-US" dirty="0"/>
              <a:t>Project A has a guaranteed return of 7% (leaving firm worth $107M)</a:t>
            </a:r>
          </a:p>
          <a:p>
            <a:r>
              <a:rPr lang="en-US" dirty="0"/>
              <a:t>Debt holders get 5% return on their $50M. Equity holders get what’s left over.</a:t>
            </a:r>
          </a:p>
          <a:p>
            <a:r>
              <a:rPr lang="en-US" dirty="0"/>
              <a:t>Value of Debt after 1Y = $50M*(1.05) = $52.5M.</a:t>
            </a:r>
          </a:p>
          <a:p>
            <a:r>
              <a:rPr lang="en-US" dirty="0"/>
              <a:t>Value of Equity = $107M - $52.5M = $54.5M.</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19</a:t>
            </a:fld>
            <a:endParaRPr lang="en-US"/>
          </a:p>
        </p:txBody>
      </p:sp>
    </p:spTree>
    <p:extLst>
      <p:ext uri="{BB962C8B-B14F-4D97-AF65-F5344CB8AC3E}">
        <p14:creationId xmlns:p14="http://schemas.microsoft.com/office/powerpoint/2010/main" val="2007391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Project B</a:t>
            </a:r>
          </a:p>
        </p:txBody>
      </p:sp>
      <p:sp>
        <p:nvSpPr>
          <p:cNvPr id="3" name="Content Placeholder 2"/>
          <p:cNvSpPr>
            <a:spLocks noGrp="1"/>
          </p:cNvSpPr>
          <p:nvPr>
            <p:ph idx="1"/>
          </p:nvPr>
        </p:nvSpPr>
        <p:spPr/>
        <p:txBody>
          <a:bodyPr>
            <a:normAutofit fontScale="92500" lnSpcReduction="10000"/>
          </a:bodyPr>
          <a:lstStyle/>
          <a:p>
            <a:r>
              <a:rPr lang="en-US" dirty="0"/>
              <a:t>Project B has a 50% chance of failure (leaving firm worthless) and a 50% chance of a 100% return (leaving firm worth $200M)</a:t>
            </a:r>
          </a:p>
          <a:p>
            <a:r>
              <a:rPr lang="en-US" dirty="0"/>
              <a:t>50% chance of success (firm worth $200M):</a:t>
            </a:r>
          </a:p>
          <a:p>
            <a:pPr lvl="1"/>
            <a:r>
              <a:rPr lang="en-US" dirty="0"/>
              <a:t>Debt holders get $52.5M as before.</a:t>
            </a:r>
          </a:p>
          <a:p>
            <a:pPr lvl="1"/>
            <a:r>
              <a:rPr lang="en-US" dirty="0"/>
              <a:t>Equity holders get $147.5M.</a:t>
            </a:r>
          </a:p>
          <a:p>
            <a:r>
              <a:rPr lang="en-US" dirty="0"/>
              <a:t>50% chance of failure (firm worth $0):</a:t>
            </a:r>
          </a:p>
          <a:p>
            <a:pPr lvl="1"/>
            <a:r>
              <a:rPr lang="en-US" dirty="0"/>
              <a:t>Debt &amp; equity holders get $0.</a:t>
            </a:r>
          </a:p>
          <a:p>
            <a:pPr lvl="1"/>
            <a:endParaRPr lang="en-US" dirty="0"/>
          </a:p>
          <a:p>
            <a:r>
              <a:rPr lang="en-US" dirty="0"/>
              <a:t>Expected (average) value of Project B:</a:t>
            </a:r>
          </a:p>
          <a:p>
            <a:pPr lvl="1"/>
            <a:r>
              <a:rPr lang="en-US" dirty="0"/>
              <a:t>Debt holders: $26.25M</a:t>
            </a:r>
          </a:p>
          <a:p>
            <a:pPr lvl="1"/>
            <a:r>
              <a:rPr lang="en-US" dirty="0"/>
              <a:t>Equity holders: $73.25M</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20</a:t>
            </a:fld>
            <a:endParaRPr lang="en-US"/>
          </a:p>
        </p:txBody>
      </p:sp>
    </p:spTree>
    <p:extLst>
      <p:ext uri="{BB962C8B-B14F-4D97-AF65-F5344CB8AC3E}">
        <p14:creationId xmlns:p14="http://schemas.microsoft.com/office/powerpoint/2010/main" val="1002629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066800"/>
          </a:xfrm>
        </p:spPr>
        <p:txBody>
          <a:bodyPr>
            <a:normAutofit fontScale="90000"/>
          </a:bodyPr>
          <a:lstStyle/>
          <a:p>
            <a:r>
              <a:rPr lang="en-US" dirty="0"/>
              <a:t>Agency issues: Debtholders vs Shareholders</a:t>
            </a:r>
          </a:p>
        </p:txBody>
      </p:sp>
      <p:sp>
        <p:nvSpPr>
          <p:cNvPr id="3" name="Content Placeholder 2"/>
          <p:cNvSpPr>
            <a:spLocks noGrp="1"/>
          </p:cNvSpPr>
          <p:nvPr>
            <p:ph idx="1"/>
          </p:nvPr>
        </p:nvSpPr>
        <p:spPr>
          <a:xfrm>
            <a:off x="152400" y="1219200"/>
            <a:ext cx="8839200" cy="5105400"/>
          </a:xfrm>
        </p:spPr>
        <p:txBody>
          <a:bodyPr>
            <a:normAutofit lnSpcReduction="10000"/>
          </a:bodyPr>
          <a:lstStyle/>
          <a:p>
            <a:r>
              <a:rPr lang="en-US" dirty="0"/>
              <a:t>Since the expected value of Project B ($73.25M) is greater than the expected value of Project A ($54.5M), shareholders prefer Project B.</a:t>
            </a:r>
          </a:p>
          <a:p>
            <a:r>
              <a:rPr lang="en-US" dirty="0"/>
              <a:t>Debt holders prefer Project A.</a:t>
            </a:r>
          </a:p>
          <a:p>
            <a:endParaRPr lang="en-US" dirty="0"/>
          </a:p>
          <a:p>
            <a:r>
              <a:rPr lang="en-US" dirty="0"/>
              <a:t>Big picture takeaways:</a:t>
            </a:r>
          </a:p>
          <a:p>
            <a:pPr lvl="1"/>
            <a:r>
              <a:rPr lang="en-US" dirty="0"/>
              <a:t>Structure of equity (residual claimant) creates incentives for the firm to take on risk</a:t>
            </a:r>
          </a:p>
          <a:p>
            <a:pPr lvl="1"/>
            <a:r>
              <a:rPr lang="en-US" dirty="0"/>
              <a:t>Debt holders limit the risk of the firm through covenants</a:t>
            </a:r>
          </a:p>
        </p:txBody>
      </p:sp>
      <p:sp>
        <p:nvSpPr>
          <p:cNvPr id="4" name="Slide Number Placeholder 3"/>
          <p:cNvSpPr>
            <a:spLocks noGrp="1"/>
          </p:cNvSpPr>
          <p:nvPr>
            <p:ph type="sldNum" sz="quarter" idx="12"/>
          </p:nvPr>
        </p:nvSpPr>
        <p:spPr/>
        <p:txBody>
          <a:bodyPr/>
          <a:lstStyle/>
          <a:p>
            <a:fld id="{0393BAE2-A5DD-40CC-BEF0-872AF419E171}" type="slidenum">
              <a:rPr lang="en-US" smtClean="0"/>
              <a:t>21</a:t>
            </a:fld>
            <a:endParaRPr lang="en-US"/>
          </a:p>
        </p:txBody>
      </p:sp>
    </p:spTree>
    <p:extLst>
      <p:ext uri="{BB962C8B-B14F-4D97-AF65-F5344CB8AC3E}">
        <p14:creationId xmlns:p14="http://schemas.microsoft.com/office/powerpoint/2010/main" val="4077649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Debt covenants</a:t>
            </a:r>
          </a:p>
        </p:txBody>
      </p:sp>
      <p:sp>
        <p:nvSpPr>
          <p:cNvPr id="3" name="Content Placeholder 2"/>
          <p:cNvSpPr>
            <a:spLocks noGrp="1"/>
          </p:cNvSpPr>
          <p:nvPr>
            <p:ph idx="1"/>
          </p:nvPr>
        </p:nvSpPr>
        <p:spPr/>
        <p:txBody>
          <a:bodyPr>
            <a:normAutofit fontScale="92500" lnSpcReduction="20000"/>
          </a:bodyPr>
          <a:lstStyle/>
          <a:p>
            <a:r>
              <a:rPr lang="en-US" dirty="0">
                <a:hlinkClick r:id="rId2"/>
              </a:rPr>
              <a:t>http://www.investinganswers.com/financial-dictionary/bonds/covenant-1041</a:t>
            </a:r>
            <a:endParaRPr lang="en-US" dirty="0"/>
          </a:p>
          <a:p>
            <a:r>
              <a:rPr lang="en-US" dirty="0"/>
              <a:t>Financial covenants are frequently ratios that the borrower is required to stay above or below (a 2:1 debt-to-equity ratio or interest coverage ratio, for example), but there are usually also restrictions on debt levels and minimum working capital requirements. Financial covenants often limit the borrower's purchase of new assets, changes in control, the use of the borrowed funds, and the payment of dividends (so that shareholders cannot vote to pay themselves huge dividends, leaving nothing for the creditors). Some may also limit compensation packages for officers.</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22</a:t>
            </a:fld>
            <a:endParaRPr lang="en-US"/>
          </a:p>
        </p:txBody>
      </p:sp>
    </p:spTree>
    <p:extLst>
      <p:ext uri="{BB962C8B-B14F-4D97-AF65-F5344CB8AC3E}">
        <p14:creationId xmlns:p14="http://schemas.microsoft.com/office/powerpoint/2010/main" val="3573008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Corporate Org Chart</a:t>
            </a:r>
          </a:p>
        </p:txBody>
      </p:sp>
      <p:sp>
        <p:nvSpPr>
          <p:cNvPr id="4" name="Slide Number Placeholder 3"/>
          <p:cNvSpPr>
            <a:spLocks noGrp="1"/>
          </p:cNvSpPr>
          <p:nvPr>
            <p:ph type="sldNum" sz="quarter" idx="12"/>
          </p:nvPr>
        </p:nvSpPr>
        <p:spPr/>
        <p:txBody>
          <a:bodyPr/>
          <a:lstStyle/>
          <a:p>
            <a:fld id="{0393BAE2-A5DD-40CC-BEF0-872AF419E171}" type="slidenum">
              <a:rPr lang="en-US" smtClean="0"/>
              <a:t>23</a:t>
            </a:fld>
            <a:endParaRPr lang="en-US"/>
          </a:p>
        </p:txBody>
      </p:sp>
      <p:pic>
        <p:nvPicPr>
          <p:cNvPr id="5" name="Content Placeholder 4" descr="C:\Users\kbrown\Desktop\Projects_Current\BH_FFMC8e\FFMC8e_JPEGs\ch01\Figure_1-1.jpg"/>
          <p:cNvPicPr>
            <a:picLocks noGrp="1" noChangeAspect="1" noChangeArrowheads="1"/>
          </p:cNvPicPr>
          <p:nvPr>
            <p:ph idx="1"/>
          </p:nvPr>
        </p:nvPicPr>
        <p:blipFill rotWithShape="1">
          <a:blip r:embed="rId2" cstate="print">
            <a:extLst>
              <a:ext uri="{28A0092B-C50C-407E-A947-70E740481C1C}">
                <a14:useLocalDpi xmlns:a14="http://schemas.microsoft.com/office/drawing/2010/main"/>
              </a:ext>
            </a:extLst>
          </a:blip>
          <a:srcRect/>
          <a:stretch/>
        </p:blipFill>
        <p:spPr bwMode="auto">
          <a:xfrm>
            <a:off x="317075" y="2895600"/>
            <a:ext cx="8750725" cy="3581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hesnot/Getty Images">
            <a:extLst>
              <a:ext uri="{FF2B5EF4-FFF2-40B4-BE49-F238E27FC236}">
                <a16:creationId xmlns:a16="http://schemas.microsoft.com/office/drawing/2014/main" id="{0F4455B1-CB56-3529-DA13-EEB49C73E0E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86100" y="781050"/>
            <a:ext cx="2971800" cy="1979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635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Who is </a:t>
            </a:r>
            <a:r>
              <a:rPr lang="en-US" b="0" i="0" dirty="0">
                <a:solidFill>
                  <a:srgbClr val="202124"/>
                </a:solidFill>
                <a:effectLst/>
                <a:latin typeface="Google Sans"/>
              </a:rPr>
              <a:t>Mark Zuckerberg's boss</a:t>
            </a:r>
            <a:r>
              <a:rPr lang="en-US" dirty="0"/>
              <a:t>?</a:t>
            </a:r>
          </a:p>
        </p:txBody>
      </p:sp>
      <p:sp>
        <p:nvSpPr>
          <p:cNvPr id="4" name="Slide Number Placeholder 3"/>
          <p:cNvSpPr>
            <a:spLocks noGrp="1"/>
          </p:cNvSpPr>
          <p:nvPr>
            <p:ph type="sldNum" sz="quarter" idx="12"/>
          </p:nvPr>
        </p:nvSpPr>
        <p:spPr/>
        <p:txBody>
          <a:bodyPr/>
          <a:lstStyle/>
          <a:p>
            <a:fld id="{0393BAE2-A5DD-40CC-BEF0-872AF419E171}" type="slidenum">
              <a:rPr lang="en-US" smtClean="0"/>
              <a:t>24</a:t>
            </a:fld>
            <a:endParaRPr lang="en-US"/>
          </a:p>
        </p:txBody>
      </p:sp>
      <p:pic>
        <p:nvPicPr>
          <p:cNvPr id="3" name="Picture 2" descr="Chesnot/Getty Images">
            <a:extLst>
              <a:ext uri="{FF2B5EF4-FFF2-40B4-BE49-F238E27FC236}">
                <a16:creationId xmlns:a16="http://schemas.microsoft.com/office/drawing/2014/main" id="{30A6405F-BDC8-1992-29DF-BFEADF6610B4}"/>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71600" y="1143000"/>
            <a:ext cx="6636312"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588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Expanded Org Chart</a:t>
            </a:r>
          </a:p>
        </p:txBody>
      </p:sp>
      <p:sp>
        <p:nvSpPr>
          <p:cNvPr id="4" name="Slide Number Placeholder 3"/>
          <p:cNvSpPr>
            <a:spLocks noGrp="1"/>
          </p:cNvSpPr>
          <p:nvPr>
            <p:ph type="sldNum" sz="quarter" idx="12"/>
          </p:nvPr>
        </p:nvSpPr>
        <p:spPr/>
        <p:txBody>
          <a:bodyPr/>
          <a:lstStyle/>
          <a:p>
            <a:fld id="{0393BAE2-A5DD-40CC-BEF0-872AF419E171}" type="slidenum">
              <a:rPr lang="en-US" smtClean="0"/>
              <a:t>25</a:t>
            </a:fld>
            <a:endParaRPr lang="en-US"/>
          </a:p>
        </p:txBody>
      </p:sp>
      <p:pic>
        <p:nvPicPr>
          <p:cNvPr id="5" name="Content Placeholder 4" descr="C:\Users\kbrown\Desktop\Projects_Current\BH_FFMC8e\FFMC8e_JPEGs\ch01\Figure_1-1.jpg"/>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646417" y="1066800"/>
            <a:ext cx="8076242"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995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199"/>
            <a:ext cx="8991600" cy="1142999"/>
          </a:xfrm>
        </p:spPr>
        <p:txBody>
          <a:bodyPr>
            <a:normAutofit fontScale="90000"/>
          </a:bodyPr>
          <a:lstStyle/>
          <a:p>
            <a:r>
              <a:rPr lang="en-US" dirty="0"/>
              <a:t>The board of directors acts on behalf of shareholders.</a:t>
            </a:r>
          </a:p>
        </p:txBody>
      </p:sp>
      <p:sp>
        <p:nvSpPr>
          <p:cNvPr id="3" name="Content Placeholder 2"/>
          <p:cNvSpPr>
            <a:spLocks noGrp="1"/>
          </p:cNvSpPr>
          <p:nvPr>
            <p:ph idx="1"/>
          </p:nvPr>
        </p:nvSpPr>
        <p:spPr>
          <a:xfrm>
            <a:off x="152400" y="3657599"/>
            <a:ext cx="8839200" cy="2881499"/>
          </a:xfrm>
        </p:spPr>
        <p:txBody>
          <a:bodyPr>
            <a:normAutofit lnSpcReduction="10000"/>
          </a:bodyPr>
          <a:lstStyle/>
          <a:p>
            <a:pPr marL="0" indent="0">
              <a:buNone/>
            </a:pPr>
            <a:r>
              <a:rPr lang="en-US" dirty="0"/>
              <a:t>What does the board require of Mark Zuckerberg?</a:t>
            </a:r>
          </a:p>
          <a:p>
            <a:r>
              <a:rPr lang="en-US" dirty="0"/>
              <a:t>Increase profits?</a:t>
            </a:r>
          </a:p>
          <a:p>
            <a:r>
              <a:rPr lang="en-US" dirty="0"/>
              <a:t>Increase dividends?</a:t>
            </a:r>
          </a:p>
          <a:p>
            <a:r>
              <a:rPr lang="en-US" dirty="0"/>
              <a:t>Protect the environment?</a:t>
            </a:r>
          </a:p>
          <a:p>
            <a:r>
              <a:rPr lang="en-US" dirty="0"/>
              <a:t>Provide stable jobs to employees?</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26</a:t>
            </a:fld>
            <a:endParaRPr lang="en-US"/>
          </a:p>
        </p:txBody>
      </p:sp>
      <p:pic>
        <p:nvPicPr>
          <p:cNvPr id="3074" name="Picture 2" descr="Chesnot/Getty Images">
            <a:extLst>
              <a:ext uri="{FF2B5EF4-FFF2-40B4-BE49-F238E27FC236}">
                <a16:creationId xmlns:a16="http://schemas.microsoft.com/office/drawing/2014/main" id="{57992700-EF6C-679F-0197-48BC40E2724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048000" y="1371600"/>
            <a:ext cx="2937810" cy="195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680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Who is the boss of the board?</a:t>
            </a:r>
          </a:p>
        </p:txBody>
      </p:sp>
      <p:sp>
        <p:nvSpPr>
          <p:cNvPr id="3" name="Content Placeholder 2"/>
          <p:cNvSpPr>
            <a:spLocks noGrp="1"/>
          </p:cNvSpPr>
          <p:nvPr>
            <p:ph idx="1"/>
          </p:nvPr>
        </p:nvSpPr>
        <p:spPr/>
        <p:txBody>
          <a:bodyPr/>
          <a:lstStyle/>
          <a:p>
            <a:r>
              <a:rPr lang="en-US" dirty="0">
                <a:hlinkClick r:id="rId2"/>
              </a:rPr>
              <a:t>https://en.wikipedia.org/wiki/Board_of_directors#Election_and_removal</a:t>
            </a:r>
            <a:endParaRPr lang="en-US" dirty="0"/>
          </a:p>
          <a:p>
            <a:r>
              <a:rPr lang="en-US" b="1" dirty="0"/>
              <a:t>Election and removal</a:t>
            </a:r>
          </a:p>
          <a:p>
            <a:pPr lvl="1"/>
            <a:r>
              <a:rPr lang="en-US" dirty="0"/>
              <a:t>In most legal systems, the appointment and removal of directors is voted upon by the </a:t>
            </a:r>
            <a:r>
              <a:rPr lang="en-US" b="1" i="1" u="sng" dirty="0"/>
              <a:t>shareholders</a:t>
            </a:r>
            <a:r>
              <a:rPr lang="en-US" dirty="0"/>
              <a:t> in general meeting or through a proxy statement. For publicly traded companies</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27</a:t>
            </a:fld>
            <a:endParaRPr lang="en-US"/>
          </a:p>
        </p:txBody>
      </p:sp>
    </p:spTree>
    <p:extLst>
      <p:ext uri="{BB962C8B-B14F-4D97-AF65-F5344CB8AC3E}">
        <p14:creationId xmlns:p14="http://schemas.microsoft.com/office/powerpoint/2010/main" val="824529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9" name="Rectangle 3"/>
          <p:cNvSpPr>
            <a:spLocks noGrp="1" noChangeArrowheads="1"/>
          </p:cNvSpPr>
          <p:nvPr>
            <p:ph type="body" idx="1"/>
          </p:nvPr>
        </p:nvSpPr>
        <p:spPr>
          <a:xfrm>
            <a:off x="654424" y="1981200"/>
            <a:ext cx="8001000" cy="4114800"/>
          </a:xfrm>
          <a:noFill/>
          <a:ln/>
        </p:spPr>
        <p:txBody>
          <a:bodyPr>
            <a:normAutofit/>
          </a:bodyPr>
          <a:lstStyle/>
          <a:p>
            <a:pPr>
              <a:lnSpc>
                <a:spcPct val="90000"/>
              </a:lnSpc>
            </a:pPr>
            <a:r>
              <a:rPr lang="en-US" dirty="0"/>
              <a:t>The primary goal is shareholder wealth maximization, which translates to </a:t>
            </a:r>
            <a:r>
              <a:rPr lang="en-US" b="1" i="1" u="sng" dirty="0"/>
              <a:t>maximizing long-term stock price</a:t>
            </a:r>
            <a:r>
              <a:rPr lang="en-US" dirty="0"/>
              <a:t>.</a:t>
            </a:r>
          </a:p>
          <a:p>
            <a:pPr lvl="1">
              <a:lnSpc>
                <a:spcPct val="90000"/>
              </a:lnSpc>
            </a:pPr>
            <a:r>
              <a:rPr lang="en-US" dirty="0"/>
              <a:t>This is not quite the same as maximizing profits</a:t>
            </a:r>
          </a:p>
          <a:p>
            <a:pPr lvl="1">
              <a:lnSpc>
                <a:spcPct val="90000"/>
              </a:lnSpc>
            </a:pPr>
            <a:r>
              <a:rPr lang="en-US" dirty="0"/>
              <a:t>Accounting tricks can maximize short-term stock price with long-term reputational consequences.</a:t>
            </a:r>
          </a:p>
          <a:p>
            <a:pPr lvl="1">
              <a:lnSpc>
                <a:spcPct val="90000"/>
              </a:lnSpc>
            </a:pPr>
            <a:endParaRPr lang="en-US" dirty="0"/>
          </a:p>
          <a:p>
            <a:pPr lvl="2">
              <a:lnSpc>
                <a:spcPct val="90000"/>
              </a:lnSpc>
            </a:pPr>
            <a:endParaRPr lang="en-US" dirty="0"/>
          </a:p>
        </p:txBody>
      </p:sp>
      <p:sp>
        <p:nvSpPr>
          <p:cNvPr id="24580" name="Rectangle 4"/>
          <p:cNvSpPr>
            <a:spLocks noChangeArrowheads="1"/>
          </p:cNvSpPr>
          <p:nvPr/>
        </p:nvSpPr>
        <p:spPr bwMode="auto">
          <a:xfrm>
            <a:off x="685800" y="808038"/>
            <a:ext cx="7772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Goals of the Corporation</a:t>
            </a:r>
          </a:p>
        </p:txBody>
      </p:sp>
    </p:spTree>
    <p:extLst>
      <p:ext uri="{BB962C8B-B14F-4D97-AF65-F5344CB8AC3E}">
        <p14:creationId xmlns:p14="http://schemas.microsoft.com/office/powerpoint/2010/main" val="398013952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Actual vs “Intrinsic” Value</a:t>
            </a:r>
          </a:p>
        </p:txBody>
      </p:sp>
      <p:sp>
        <p:nvSpPr>
          <p:cNvPr id="4" name="Slide Number Placeholder 3"/>
          <p:cNvSpPr>
            <a:spLocks noGrp="1"/>
          </p:cNvSpPr>
          <p:nvPr>
            <p:ph type="sldNum" sz="quarter" idx="12"/>
          </p:nvPr>
        </p:nvSpPr>
        <p:spPr/>
        <p:txBody>
          <a:bodyPr/>
          <a:lstStyle/>
          <a:p>
            <a:fld id="{0393BAE2-A5DD-40CC-BEF0-872AF419E171}" type="slidenum">
              <a:rPr lang="en-US" smtClean="0"/>
              <a:t>29</a:t>
            </a:fld>
            <a:endParaRPr lang="en-US"/>
          </a:p>
        </p:txBody>
      </p:sp>
      <p:pic>
        <p:nvPicPr>
          <p:cNvPr id="5" name="Content Placeholder 4" descr="C:\Users\kbrown\Desktop\Projects_Current\BH_FFMC8e\FFMC8e_JPEGs\ch01\Figure_1-3.jpg"/>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1295400" y="762000"/>
            <a:ext cx="7086600" cy="5846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398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914400" y="1905000"/>
            <a:ext cx="7315200" cy="3886200"/>
          </a:xfrm>
          <a:noFill/>
          <a:ln/>
        </p:spPr>
        <p:txBody>
          <a:bodyPr/>
          <a:lstStyle/>
          <a:p>
            <a:pPr>
              <a:lnSpc>
                <a:spcPct val="90000"/>
              </a:lnSpc>
              <a:spcBef>
                <a:spcPct val="50000"/>
              </a:spcBef>
            </a:pPr>
            <a:r>
              <a:rPr lang="en-US" dirty="0"/>
              <a:t>Projected cash flows to shareholders</a:t>
            </a:r>
          </a:p>
          <a:p>
            <a:pPr>
              <a:lnSpc>
                <a:spcPct val="90000"/>
              </a:lnSpc>
              <a:spcBef>
                <a:spcPct val="50000"/>
              </a:spcBef>
            </a:pPr>
            <a:r>
              <a:rPr lang="en-US" dirty="0"/>
              <a:t>Timing of the cash flows</a:t>
            </a:r>
          </a:p>
          <a:p>
            <a:pPr>
              <a:lnSpc>
                <a:spcPct val="90000"/>
              </a:lnSpc>
              <a:spcBef>
                <a:spcPct val="50000"/>
              </a:spcBef>
            </a:pPr>
            <a:r>
              <a:rPr lang="en-US" dirty="0"/>
              <a:t>Riskiness of the cash flows</a:t>
            </a:r>
          </a:p>
        </p:txBody>
      </p:sp>
      <p:sp>
        <p:nvSpPr>
          <p:cNvPr id="32771" name="Rectangle 3"/>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2" name="Rectangle 4"/>
          <p:cNvSpPr>
            <a:spLocks noChangeArrowheads="1"/>
          </p:cNvSpPr>
          <p:nvPr/>
        </p:nvSpPr>
        <p:spPr bwMode="auto">
          <a:xfrm>
            <a:off x="685800" y="838200"/>
            <a:ext cx="7772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Factors that Affect Stock Price</a:t>
            </a:r>
          </a:p>
        </p:txBody>
      </p:sp>
    </p:spTree>
    <p:extLst>
      <p:ext uri="{BB962C8B-B14F-4D97-AF65-F5344CB8AC3E}">
        <p14:creationId xmlns:p14="http://schemas.microsoft.com/office/powerpoint/2010/main" val="140412283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ChangeArrowheads="1"/>
          </p:cNvSpPr>
          <p:nvPr/>
        </p:nvSpPr>
        <p:spPr bwMode="auto">
          <a:xfrm>
            <a:off x="609600" y="711200"/>
            <a:ext cx="7924800" cy="11176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8" name="Rectangle 4"/>
          <p:cNvSpPr>
            <a:spLocks noChangeArrowheads="1"/>
          </p:cNvSpPr>
          <p:nvPr/>
        </p:nvSpPr>
        <p:spPr bwMode="auto">
          <a:xfrm>
            <a:off x="685800" y="762000"/>
            <a:ext cx="7772400" cy="10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Does short-term profit </a:t>
            </a:r>
            <a:r>
              <a:rPr lang="en-US" sz="3200" dirty="0">
                <a:solidFill>
                  <a:schemeClr val="bg2"/>
                </a:solidFill>
              </a:rPr>
              <a:t>maximization equal stock price maximization?</a:t>
            </a:r>
          </a:p>
        </p:txBody>
      </p:sp>
      <p:sp>
        <p:nvSpPr>
          <p:cNvPr id="47110" name="Text Box 6"/>
          <p:cNvSpPr txBox="1">
            <a:spLocks noChangeArrowheads="1"/>
          </p:cNvSpPr>
          <p:nvPr/>
        </p:nvSpPr>
        <p:spPr bwMode="auto">
          <a:xfrm>
            <a:off x="609600" y="2362200"/>
            <a:ext cx="80010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90000"/>
              </a:lnSpc>
              <a:spcBef>
                <a:spcPct val="50000"/>
              </a:spcBef>
            </a:pPr>
            <a:r>
              <a:rPr lang="en-US" sz="3200" dirty="0"/>
              <a:t>Not necessarily. Today’s stock price relies </a:t>
            </a:r>
            <a:r>
              <a:rPr lang="en-US" sz="3200" b="1" u="sng" dirty="0">
                <a:solidFill>
                  <a:srgbClr val="FF0000"/>
                </a:solidFill>
              </a:rPr>
              <a:t>not only</a:t>
            </a:r>
            <a:r>
              <a:rPr lang="en-US" sz="3200" b="1" dirty="0"/>
              <a:t> </a:t>
            </a:r>
            <a:r>
              <a:rPr lang="en-US" sz="3200" dirty="0"/>
              <a:t>on current earnings, but future earnings and cash flows.</a:t>
            </a:r>
          </a:p>
          <a:p>
            <a:pPr algn="l">
              <a:lnSpc>
                <a:spcPct val="90000"/>
              </a:lnSpc>
              <a:spcBef>
                <a:spcPct val="50000"/>
              </a:spcBef>
            </a:pPr>
            <a:r>
              <a:rPr lang="en-US" sz="3200" dirty="0"/>
              <a:t>Some actions may increase short-term earnings, yet cause stock price to decrease (and vice versa).</a:t>
            </a:r>
          </a:p>
        </p:txBody>
      </p:sp>
    </p:spTree>
    <p:extLst>
      <p:ext uri="{BB962C8B-B14F-4D97-AF65-F5344CB8AC3E}">
        <p14:creationId xmlns:p14="http://schemas.microsoft.com/office/powerpoint/2010/main" val="276505004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Bob is asking you to invest in his business</a:t>
            </a:r>
          </a:p>
          <a:p>
            <a:pPr lvl="1"/>
            <a:r>
              <a:rPr lang="en-US" dirty="0"/>
              <a:t>Why?</a:t>
            </a:r>
          </a:p>
          <a:p>
            <a:pPr lvl="1"/>
            <a:r>
              <a:rPr lang="en-US" dirty="0"/>
              <a:t>He needs cash to expand/continue</a:t>
            </a:r>
          </a:p>
          <a:p>
            <a:endParaRPr lang="en-US" dirty="0"/>
          </a:p>
          <a:p>
            <a:r>
              <a:rPr lang="en-US" dirty="0"/>
              <a:t>You will invest in Bob’s business only if you can get your money back </a:t>
            </a:r>
            <a:r>
              <a:rPr lang="en-US" b="1" u="sng" dirty="0"/>
              <a:t>plus</a:t>
            </a:r>
            <a:r>
              <a:rPr lang="en-US" dirty="0"/>
              <a:t> interest</a:t>
            </a:r>
          </a:p>
          <a:p>
            <a:endParaRPr lang="en-US" dirty="0"/>
          </a:p>
          <a:p>
            <a:r>
              <a:rPr lang="en-US" dirty="0"/>
              <a:t>Suppose you can earn 4% by putting your money at the bank</a:t>
            </a:r>
          </a:p>
          <a:p>
            <a:pPr lvl="1"/>
            <a:r>
              <a:rPr lang="en-US" dirty="0"/>
              <a:t>How much interest would Bob have to promise you?</a:t>
            </a:r>
          </a:p>
          <a:p>
            <a:pPr lvl="1"/>
            <a:r>
              <a:rPr lang="en-US" dirty="0"/>
              <a:t>How does this compare to the 4% rate of interest that the bank is paying?</a:t>
            </a:r>
          </a:p>
        </p:txBody>
      </p:sp>
      <p:sp>
        <p:nvSpPr>
          <p:cNvPr id="3" name="Title 2"/>
          <p:cNvSpPr>
            <a:spLocks noGrp="1"/>
          </p:cNvSpPr>
          <p:nvPr>
            <p:ph type="title"/>
          </p:nvPr>
        </p:nvSpPr>
        <p:spPr/>
        <p:txBody>
          <a:bodyPr>
            <a:normAutofit fontScale="90000"/>
          </a:bodyPr>
          <a:lstStyle/>
          <a:p>
            <a:r>
              <a:rPr lang="en-US" dirty="0"/>
              <a:t>The investment trade-off</a:t>
            </a:r>
          </a:p>
        </p:txBody>
      </p:sp>
      <p:pic>
        <p:nvPicPr>
          <p:cNvPr id="5" name="Picture 2" descr="https://nelioabtesting.com/wp-content/uploads/2015/05/4.1_widget-type.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72400" y="114300"/>
            <a:ext cx="1295400"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343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cost of capital for a business is the return investors demand to lend their money to the firm</a:t>
            </a:r>
          </a:p>
          <a:p>
            <a:endParaRPr lang="en-US" dirty="0"/>
          </a:p>
          <a:p>
            <a:r>
              <a:rPr lang="en-US" dirty="0"/>
              <a:t>The cost of capital depends on how risky the company is relative to other investment opportunities</a:t>
            </a:r>
          </a:p>
          <a:p>
            <a:endParaRPr lang="en-US" dirty="0"/>
          </a:p>
          <a:p>
            <a:r>
              <a:rPr lang="en-US" dirty="0"/>
              <a:t>Higher risk requires higher return</a:t>
            </a:r>
          </a:p>
          <a:p>
            <a:endParaRPr lang="en-US" dirty="0"/>
          </a:p>
        </p:txBody>
      </p:sp>
      <p:sp>
        <p:nvSpPr>
          <p:cNvPr id="3" name="Title 2"/>
          <p:cNvSpPr>
            <a:spLocks noGrp="1"/>
          </p:cNvSpPr>
          <p:nvPr>
            <p:ph type="title"/>
          </p:nvPr>
        </p:nvSpPr>
        <p:spPr/>
        <p:txBody>
          <a:bodyPr>
            <a:normAutofit fontScale="90000"/>
          </a:bodyPr>
          <a:lstStyle/>
          <a:p>
            <a:r>
              <a:rPr lang="en-US" dirty="0"/>
              <a:t>Cost of Capital</a:t>
            </a:r>
          </a:p>
        </p:txBody>
      </p:sp>
    </p:spTree>
    <p:extLst>
      <p:ext uri="{BB962C8B-B14F-4D97-AF65-F5344CB8AC3E}">
        <p14:creationId xmlns:p14="http://schemas.microsoft.com/office/powerpoint/2010/main" val="2227879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9"/>
            <a:ext cx="8229600" cy="1033272"/>
          </a:xfrm>
        </p:spPr>
        <p:txBody>
          <a:bodyPr>
            <a:normAutofit lnSpcReduction="10000"/>
          </a:bodyPr>
          <a:lstStyle/>
          <a:p>
            <a:r>
              <a:rPr lang="en-US" dirty="0"/>
              <a:t>Example</a:t>
            </a:r>
          </a:p>
          <a:p>
            <a:pPr lvl="1"/>
            <a:r>
              <a:rPr lang="en-US" dirty="0"/>
              <a:t>Which would have a higher cost of capital? Why?</a:t>
            </a:r>
          </a:p>
        </p:txBody>
      </p:sp>
      <p:sp>
        <p:nvSpPr>
          <p:cNvPr id="3" name="Title 2"/>
          <p:cNvSpPr>
            <a:spLocks noGrp="1"/>
          </p:cNvSpPr>
          <p:nvPr>
            <p:ph type="title"/>
          </p:nvPr>
        </p:nvSpPr>
        <p:spPr/>
        <p:txBody>
          <a:bodyPr>
            <a:normAutofit fontScale="90000"/>
          </a:bodyPr>
          <a:lstStyle/>
          <a:p>
            <a:r>
              <a:rPr lang="en-US" dirty="0"/>
              <a:t>Cost of Capital</a:t>
            </a:r>
          </a:p>
        </p:txBody>
      </p:sp>
      <p:sp>
        <p:nvSpPr>
          <p:cNvPr id="6" name="TextBox 5"/>
          <p:cNvSpPr txBox="1"/>
          <p:nvPr/>
        </p:nvSpPr>
        <p:spPr>
          <a:xfrm>
            <a:off x="914400" y="5334000"/>
            <a:ext cx="28194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Facebook</a:t>
            </a:r>
            <a:endParaRPr lang="en-US" dirty="0"/>
          </a:p>
        </p:txBody>
      </p:sp>
      <p:sp>
        <p:nvSpPr>
          <p:cNvPr id="7" name="TextBox 6"/>
          <p:cNvSpPr txBox="1"/>
          <p:nvPr/>
        </p:nvSpPr>
        <p:spPr>
          <a:xfrm>
            <a:off x="5573934" y="4964484"/>
            <a:ext cx="28194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Bob’s </a:t>
            </a:r>
            <a:r>
              <a:rPr lang="en-US" dirty="0"/>
              <a:t>Discount Widgets</a:t>
            </a:r>
          </a:p>
        </p:txBody>
      </p:sp>
      <p:pic>
        <p:nvPicPr>
          <p:cNvPr id="8" name="Picture 2" descr="https://nelioabtesting.com/wp-content/uploads/2015/05/4.1_widget-type.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031134" y="2881518"/>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acebook Logo and symbol, meaning, history, PNG, brand">
            <a:extLst>
              <a:ext uri="{FF2B5EF4-FFF2-40B4-BE49-F238E27FC236}">
                <a16:creationId xmlns:a16="http://schemas.microsoft.com/office/drawing/2014/main" id="{DBC2F1BC-48E3-CFAB-2906-1FBAF13CFAD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3467" y="2563384"/>
            <a:ext cx="42672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6909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Firms should only invest in opportunities that provide a return of </a:t>
            </a:r>
            <a:r>
              <a:rPr lang="en-US" b="1" i="1" u="sng" dirty="0"/>
              <a:t>at least</a:t>
            </a:r>
            <a:r>
              <a:rPr lang="en-US" dirty="0"/>
              <a:t> their cost of capital</a:t>
            </a:r>
          </a:p>
          <a:p>
            <a:endParaRPr lang="en-US" dirty="0"/>
          </a:p>
          <a:p>
            <a:r>
              <a:rPr lang="en-US" dirty="0"/>
              <a:t>Otherwise, investors would rather keep the money and invest in something else</a:t>
            </a:r>
          </a:p>
        </p:txBody>
      </p:sp>
      <p:sp>
        <p:nvSpPr>
          <p:cNvPr id="3" name="Title 2"/>
          <p:cNvSpPr>
            <a:spLocks noGrp="1"/>
          </p:cNvSpPr>
          <p:nvPr>
            <p:ph type="title"/>
          </p:nvPr>
        </p:nvSpPr>
        <p:spPr/>
        <p:txBody>
          <a:bodyPr>
            <a:normAutofit fontScale="90000"/>
          </a:bodyPr>
          <a:lstStyle/>
          <a:p>
            <a:r>
              <a:rPr lang="en-US" dirty="0"/>
              <a:t>Cost of Capital</a:t>
            </a:r>
          </a:p>
        </p:txBody>
      </p:sp>
    </p:spTree>
    <p:extLst>
      <p:ext uri="{BB962C8B-B14F-4D97-AF65-F5344CB8AC3E}">
        <p14:creationId xmlns:p14="http://schemas.microsoft.com/office/powerpoint/2010/main" val="1437742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dirty="0"/>
              <a:t>Example:</a:t>
            </a:r>
          </a:p>
          <a:p>
            <a:r>
              <a:rPr lang="en-US" dirty="0"/>
              <a:t>The cost of capital for BDW, Inc. is 15%</a:t>
            </a:r>
          </a:p>
          <a:p>
            <a:endParaRPr lang="en-US" dirty="0"/>
          </a:p>
          <a:p>
            <a:r>
              <a:rPr lang="en-US" dirty="0"/>
              <a:t>BDW had profits of $250,000 last year</a:t>
            </a:r>
          </a:p>
          <a:p>
            <a:endParaRPr lang="en-US" dirty="0"/>
          </a:p>
          <a:p>
            <a:r>
              <a:rPr lang="en-US" dirty="0"/>
              <a:t>What should the firm do with the profits?</a:t>
            </a:r>
          </a:p>
          <a:p>
            <a:pPr lvl="1"/>
            <a:r>
              <a:rPr lang="en-US" dirty="0"/>
              <a:t>If the firm has investment opportunities that can earn 15% or more, BDW should reinvest the $250k back into the business</a:t>
            </a:r>
          </a:p>
          <a:p>
            <a:pPr lvl="1"/>
            <a:r>
              <a:rPr lang="en-US" dirty="0"/>
              <a:t>Otherwise, BDW should return the profits to the shareholders</a:t>
            </a:r>
          </a:p>
        </p:txBody>
      </p:sp>
      <p:sp>
        <p:nvSpPr>
          <p:cNvPr id="3" name="Title 2"/>
          <p:cNvSpPr>
            <a:spLocks noGrp="1"/>
          </p:cNvSpPr>
          <p:nvPr>
            <p:ph type="title"/>
          </p:nvPr>
        </p:nvSpPr>
        <p:spPr/>
        <p:txBody>
          <a:bodyPr>
            <a:normAutofit fontScale="90000"/>
          </a:bodyPr>
          <a:lstStyle/>
          <a:p>
            <a:r>
              <a:rPr lang="en-US" dirty="0"/>
              <a:t>Investment trade-off</a:t>
            </a:r>
          </a:p>
        </p:txBody>
      </p:sp>
    </p:spTree>
    <p:extLst>
      <p:ext uri="{BB962C8B-B14F-4D97-AF65-F5344CB8AC3E}">
        <p14:creationId xmlns:p14="http://schemas.microsoft.com/office/powerpoint/2010/main" val="3313661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2590801"/>
          </a:xfrm>
        </p:spPr>
        <p:txBody>
          <a:bodyPr>
            <a:normAutofit lnSpcReduction="10000"/>
          </a:bodyPr>
          <a:lstStyle/>
          <a:p>
            <a:r>
              <a:rPr lang="en-US" dirty="0"/>
              <a:t>In a profitable business, the firm has to decide what to do with the profits</a:t>
            </a:r>
          </a:p>
          <a:p>
            <a:pPr lvl="1"/>
            <a:r>
              <a:rPr lang="en-US" dirty="0"/>
              <a:t>A. Give the money to the shareholders</a:t>
            </a:r>
          </a:p>
          <a:p>
            <a:pPr lvl="1"/>
            <a:endParaRPr lang="en-US" dirty="0"/>
          </a:p>
          <a:p>
            <a:pPr lvl="1"/>
            <a:r>
              <a:rPr lang="en-US" dirty="0"/>
              <a:t>B. Reinvest the funds in the business</a:t>
            </a:r>
          </a:p>
        </p:txBody>
      </p:sp>
      <p:sp>
        <p:nvSpPr>
          <p:cNvPr id="3" name="Title 2"/>
          <p:cNvSpPr>
            <a:spLocks noGrp="1"/>
          </p:cNvSpPr>
          <p:nvPr>
            <p:ph type="title"/>
          </p:nvPr>
        </p:nvSpPr>
        <p:spPr/>
        <p:txBody>
          <a:bodyPr>
            <a:normAutofit fontScale="90000"/>
          </a:bodyPr>
          <a:lstStyle/>
          <a:p>
            <a:r>
              <a:rPr lang="en-US" dirty="0"/>
              <a:t>The Investment trade-off</a:t>
            </a:r>
          </a:p>
        </p:txBody>
      </p:sp>
      <p:sp>
        <p:nvSpPr>
          <p:cNvPr id="4" name="TextBox 3"/>
          <p:cNvSpPr txBox="1"/>
          <p:nvPr/>
        </p:nvSpPr>
        <p:spPr>
          <a:xfrm>
            <a:off x="457200" y="3886200"/>
            <a:ext cx="8153400" cy="2677656"/>
          </a:xfrm>
          <a:prstGeom prst="rect">
            <a:avLst/>
          </a:prstGeom>
          <a:noFill/>
        </p:spPr>
        <p:txBody>
          <a:bodyPr wrap="square" rtlCol="0">
            <a:spAutoFit/>
          </a:bodyPr>
          <a:lstStyle/>
          <a:p>
            <a:r>
              <a:rPr lang="en-US" sz="2800" dirty="0"/>
              <a:t>As long as the firm can generate returns at or above shareholder expectations, then they should reinvest the funds</a:t>
            </a:r>
          </a:p>
          <a:p>
            <a:endParaRPr lang="en-US" sz="2800" dirty="0"/>
          </a:p>
          <a:p>
            <a:r>
              <a:rPr lang="en-US" sz="2800" dirty="0"/>
              <a:t>If they cannot generate a sufficient return, they should return the money to the shareholders</a:t>
            </a:r>
          </a:p>
        </p:txBody>
      </p:sp>
    </p:spTree>
    <p:extLst>
      <p:ext uri="{BB962C8B-B14F-4D97-AF65-F5344CB8AC3E}">
        <p14:creationId xmlns:p14="http://schemas.microsoft.com/office/powerpoint/2010/main" val="4248354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609600" y="711200"/>
            <a:ext cx="7924800" cy="812800"/>
          </a:xfrm>
          <a:prstGeom prst="rect">
            <a:avLst/>
          </a:prstGeom>
          <a:solidFill>
            <a:schemeClr val="accent1"/>
          </a:solidFill>
          <a:ln w="508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9" name="Rectangle 3"/>
          <p:cNvSpPr>
            <a:spLocks noGrp="1" noChangeArrowheads="1"/>
          </p:cNvSpPr>
          <p:nvPr>
            <p:ph type="body" idx="1"/>
          </p:nvPr>
        </p:nvSpPr>
        <p:spPr>
          <a:xfrm>
            <a:off x="190500" y="1935162"/>
            <a:ext cx="8763000" cy="4114800"/>
          </a:xfrm>
          <a:noFill/>
          <a:ln/>
        </p:spPr>
        <p:txBody>
          <a:bodyPr>
            <a:normAutofit/>
          </a:bodyPr>
          <a:lstStyle/>
          <a:p>
            <a:pPr>
              <a:lnSpc>
                <a:spcPct val="90000"/>
              </a:lnSpc>
            </a:pPr>
            <a:r>
              <a:rPr lang="en-US"/>
              <a:t>The </a:t>
            </a:r>
            <a:r>
              <a:rPr lang="en-US" dirty="0"/>
              <a:t>primary goal is shareholder wealth maximization, which translates to maximizing stock price.</a:t>
            </a:r>
          </a:p>
          <a:p>
            <a:pPr lvl="1">
              <a:lnSpc>
                <a:spcPct val="90000"/>
              </a:lnSpc>
            </a:pPr>
            <a:r>
              <a:rPr lang="en-US" b="1" i="1"/>
              <a:t>Should firms behave ethically?</a:t>
            </a:r>
          </a:p>
          <a:p>
            <a:pPr lvl="1">
              <a:lnSpc>
                <a:spcPct val="90000"/>
              </a:lnSpc>
            </a:pPr>
            <a:r>
              <a:rPr lang="en-US"/>
              <a:t>Do </a:t>
            </a:r>
            <a:r>
              <a:rPr lang="en-US" dirty="0"/>
              <a:t>firms have any responsibilities to </a:t>
            </a:r>
            <a:r>
              <a:rPr lang="en-US" b="1" i="1" dirty="0"/>
              <a:t>society at large</a:t>
            </a:r>
            <a:r>
              <a:rPr lang="en-US" dirty="0"/>
              <a:t>?</a:t>
            </a:r>
          </a:p>
          <a:p>
            <a:pPr lvl="1">
              <a:lnSpc>
                <a:spcPct val="90000"/>
              </a:lnSpc>
            </a:pPr>
            <a:r>
              <a:rPr lang="en-US" dirty="0"/>
              <a:t>Is stock price maximization good or bad for </a:t>
            </a:r>
            <a:r>
              <a:rPr lang="en-US"/>
              <a:t>society?</a:t>
            </a:r>
            <a:endParaRPr lang="en-US" dirty="0"/>
          </a:p>
        </p:txBody>
      </p:sp>
      <p:sp>
        <p:nvSpPr>
          <p:cNvPr id="24580" name="Rectangle 4"/>
          <p:cNvSpPr>
            <a:spLocks noChangeArrowheads="1"/>
          </p:cNvSpPr>
          <p:nvPr/>
        </p:nvSpPr>
        <p:spPr bwMode="auto">
          <a:xfrm>
            <a:off x="685800" y="808038"/>
            <a:ext cx="7772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3200">
                <a:solidFill>
                  <a:schemeClr val="bg2"/>
                </a:solidFill>
              </a:rPr>
              <a:t>Goals of the Corporation</a:t>
            </a:r>
          </a:p>
        </p:txBody>
      </p:sp>
    </p:spTree>
    <p:extLst>
      <p:ext uri="{BB962C8B-B14F-4D97-AF65-F5344CB8AC3E}">
        <p14:creationId xmlns:p14="http://schemas.microsoft.com/office/powerpoint/2010/main" val="7063333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Socially Responsible Investing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304800" y="782864"/>
            <a:ext cx="6457950" cy="3514725"/>
          </a:xfrm>
          <a:prstGeom prst="rect">
            <a:avLst/>
          </a:prstGeom>
          <a:ln>
            <a:solidFill>
              <a:schemeClr val="accent1"/>
            </a:solidFill>
          </a:ln>
        </p:spPr>
      </p:pic>
      <p:sp>
        <p:nvSpPr>
          <p:cNvPr id="4" name="Slide Number Placeholder 3"/>
          <p:cNvSpPr>
            <a:spLocks noGrp="1"/>
          </p:cNvSpPr>
          <p:nvPr>
            <p:ph type="sldNum" sz="quarter" idx="12"/>
          </p:nvPr>
        </p:nvSpPr>
        <p:spPr/>
        <p:txBody>
          <a:bodyPr/>
          <a:lstStyle/>
          <a:p>
            <a:fld id="{0393BAE2-A5DD-40CC-BEF0-872AF419E171}" type="slidenum">
              <a:rPr lang="en-US" smtClean="0"/>
              <a:t>39</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371600" y="4254500"/>
            <a:ext cx="6734175" cy="2466975"/>
          </a:xfrm>
          <a:prstGeom prst="rect">
            <a:avLst/>
          </a:prstGeom>
          <a:ln>
            <a:solidFill>
              <a:schemeClr val="accent1"/>
            </a:solidFill>
          </a:ln>
        </p:spPr>
      </p:pic>
    </p:spTree>
    <p:extLst>
      <p:ext uri="{BB962C8B-B14F-4D97-AF65-F5344CB8AC3E}">
        <p14:creationId xmlns:p14="http://schemas.microsoft.com/office/powerpoint/2010/main" val="1853625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2</a:t>
            </a:r>
          </a:p>
        </p:txBody>
      </p:sp>
      <p:sp>
        <p:nvSpPr>
          <p:cNvPr id="3" name="Content Placeholder 2"/>
          <p:cNvSpPr>
            <a:spLocks noGrp="1"/>
          </p:cNvSpPr>
          <p:nvPr>
            <p:ph idx="1"/>
          </p:nvPr>
        </p:nvSpPr>
        <p:spPr/>
        <p:txBody>
          <a:bodyPr/>
          <a:lstStyle/>
          <a:p>
            <a:r>
              <a:rPr lang="en-US" dirty="0"/>
              <a:t>Financial Markets &amp; Institutions</a:t>
            </a:r>
          </a:p>
        </p:txBody>
      </p:sp>
      <p:sp>
        <p:nvSpPr>
          <p:cNvPr id="4" name="Slide Number Placeholder 3"/>
          <p:cNvSpPr>
            <a:spLocks noGrp="1"/>
          </p:cNvSpPr>
          <p:nvPr>
            <p:ph type="sldNum" sz="quarter" idx="12"/>
          </p:nvPr>
        </p:nvSpPr>
        <p:spPr/>
        <p:txBody>
          <a:bodyPr/>
          <a:lstStyle/>
          <a:p>
            <a:fld id="{0393BAE2-A5DD-40CC-BEF0-872AF419E171}" type="slidenum">
              <a:rPr lang="en-US" smtClean="0"/>
              <a:t>40</a:t>
            </a:fld>
            <a:endParaRPr lang="en-US"/>
          </a:p>
        </p:txBody>
      </p:sp>
    </p:spTree>
    <p:extLst>
      <p:ext uri="{BB962C8B-B14F-4D97-AF65-F5344CB8AC3E}">
        <p14:creationId xmlns:p14="http://schemas.microsoft.com/office/powerpoint/2010/main" val="2277856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point of financial markets?</a:t>
            </a:r>
          </a:p>
        </p:txBody>
      </p:sp>
      <p:sp>
        <p:nvSpPr>
          <p:cNvPr id="3" name="Content Placeholder 2"/>
          <p:cNvSpPr>
            <a:spLocks noGrp="1"/>
          </p:cNvSpPr>
          <p:nvPr>
            <p:ph idx="1"/>
          </p:nvPr>
        </p:nvSpPr>
        <p:spPr/>
        <p:txBody>
          <a:bodyPr/>
          <a:lstStyle/>
          <a:p>
            <a:r>
              <a:rPr lang="en-US" dirty="0"/>
              <a:t>Efficient allocation of capital</a:t>
            </a:r>
          </a:p>
          <a:p>
            <a:pPr lvl="1"/>
            <a:r>
              <a:rPr lang="en-US" dirty="0"/>
              <a:t>Matching savers &amp; borrowers</a:t>
            </a:r>
          </a:p>
          <a:p>
            <a:pPr lvl="1"/>
            <a:r>
              <a:rPr lang="en-US" dirty="0"/>
              <a:t>Allocating to most productive use of $</a:t>
            </a:r>
          </a:p>
          <a:p>
            <a:endParaRPr lang="en-US" dirty="0"/>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41</a:t>
            </a:fld>
            <a:endParaRPr lang="en-US"/>
          </a:p>
        </p:txBody>
      </p:sp>
      <p:sp>
        <p:nvSpPr>
          <p:cNvPr id="5" name="Rectangle 4"/>
          <p:cNvSpPr/>
          <p:nvPr/>
        </p:nvSpPr>
        <p:spPr>
          <a:xfrm>
            <a:off x="457200" y="2514600"/>
            <a:ext cx="25146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t>Savers</a:t>
            </a:r>
          </a:p>
          <a:p>
            <a:pPr algn="ctr"/>
            <a:r>
              <a:rPr lang="en-US" sz="3200" b="1" dirty="0"/>
              <a:t>(individuals, firms, gov’ts)</a:t>
            </a:r>
            <a:endParaRPr lang="en-US" sz="2400" b="1" dirty="0"/>
          </a:p>
        </p:txBody>
      </p:sp>
      <p:sp>
        <p:nvSpPr>
          <p:cNvPr id="6" name="Rectangle 5"/>
          <p:cNvSpPr/>
          <p:nvPr/>
        </p:nvSpPr>
        <p:spPr>
          <a:xfrm>
            <a:off x="5867400" y="2514600"/>
            <a:ext cx="28956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t>Borrowers</a:t>
            </a:r>
          </a:p>
          <a:p>
            <a:pPr algn="ctr"/>
            <a:r>
              <a:rPr lang="en-US" sz="3200" b="1" dirty="0"/>
              <a:t>(individuals, firms, gov’ts)</a:t>
            </a:r>
          </a:p>
        </p:txBody>
      </p:sp>
      <p:sp>
        <p:nvSpPr>
          <p:cNvPr id="8" name="Right Arrow 7"/>
          <p:cNvSpPr/>
          <p:nvPr/>
        </p:nvSpPr>
        <p:spPr>
          <a:xfrm>
            <a:off x="3048000" y="2590800"/>
            <a:ext cx="2743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a:t>
            </a:r>
          </a:p>
        </p:txBody>
      </p:sp>
      <p:sp>
        <p:nvSpPr>
          <p:cNvPr id="13" name="Left Arrow 12"/>
          <p:cNvSpPr/>
          <p:nvPr/>
        </p:nvSpPr>
        <p:spPr>
          <a:xfrm>
            <a:off x="3048000" y="3962400"/>
            <a:ext cx="2743200" cy="9281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 + interest</a:t>
            </a:r>
            <a:endParaRPr lang="en-US" sz="3600" dirty="0"/>
          </a:p>
        </p:txBody>
      </p:sp>
      <p:pic>
        <p:nvPicPr>
          <p:cNvPr id="14" name="Picture 1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8200" y="5190565"/>
            <a:ext cx="7058025" cy="1295400"/>
          </a:xfrm>
          <a:prstGeom prst="rect">
            <a:avLst/>
          </a:prstGeom>
        </p:spPr>
      </p:pic>
    </p:spTree>
    <p:extLst>
      <p:ext uri="{BB962C8B-B14F-4D97-AF65-F5344CB8AC3E}">
        <p14:creationId xmlns:p14="http://schemas.microsoft.com/office/powerpoint/2010/main" val="29026397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Financial Intermediation</a:t>
            </a:r>
          </a:p>
        </p:txBody>
      </p:sp>
      <p:sp>
        <p:nvSpPr>
          <p:cNvPr id="3" name="Content Placeholder 2"/>
          <p:cNvSpPr>
            <a:spLocks noGrp="1"/>
          </p:cNvSpPr>
          <p:nvPr>
            <p:ph idx="1"/>
          </p:nvPr>
        </p:nvSpPr>
        <p:spPr>
          <a:xfrm>
            <a:off x="152400" y="838200"/>
            <a:ext cx="8839200" cy="3124200"/>
          </a:xfrm>
        </p:spPr>
        <p:txBody>
          <a:bodyPr>
            <a:normAutofit/>
          </a:bodyPr>
          <a:lstStyle/>
          <a:p>
            <a:r>
              <a:rPr lang="en-US" sz="2000" dirty="0"/>
              <a:t>I recently borrowed $320k (@2.875%) to purchase my first home.</a:t>
            </a:r>
          </a:p>
          <a:p>
            <a:r>
              <a:rPr lang="en-US" sz="2000" dirty="0"/>
              <a:t>Without banks, borrowing $320k from a single individual would have been difficult/impossible.</a:t>
            </a:r>
          </a:p>
          <a:p>
            <a:r>
              <a:rPr lang="en-US" sz="2000" dirty="0"/>
              <a:t>Banks serve as “intermediaries” and help savers to reduce risk through diversification.</a:t>
            </a:r>
          </a:p>
        </p:txBody>
      </p:sp>
      <p:sp>
        <p:nvSpPr>
          <p:cNvPr id="4" name="Slide Number Placeholder 3"/>
          <p:cNvSpPr>
            <a:spLocks noGrp="1"/>
          </p:cNvSpPr>
          <p:nvPr>
            <p:ph type="sldNum" sz="quarter" idx="12"/>
          </p:nvPr>
        </p:nvSpPr>
        <p:spPr/>
        <p:txBody>
          <a:bodyPr/>
          <a:lstStyle/>
          <a:p>
            <a:fld id="{0393BAE2-A5DD-40CC-BEF0-872AF419E171}" type="slidenum">
              <a:rPr lang="en-US" smtClean="0"/>
              <a:t>42</a:t>
            </a:fld>
            <a:endParaRPr lang="en-US"/>
          </a:p>
        </p:txBody>
      </p:sp>
      <p:pic>
        <p:nvPicPr>
          <p:cNvPr id="2050" name="Picture 2" descr="Image result for savers borrowers and financial intermediaries"/>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667000" y="2304952"/>
            <a:ext cx="5791200" cy="29401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47762" y="5291137"/>
            <a:ext cx="6696075" cy="1457325"/>
          </a:xfrm>
          <a:prstGeom prst="rect">
            <a:avLst/>
          </a:prstGeom>
        </p:spPr>
      </p:pic>
    </p:spTree>
    <p:extLst>
      <p:ext uri="{BB962C8B-B14F-4D97-AF65-F5344CB8AC3E}">
        <p14:creationId xmlns:p14="http://schemas.microsoft.com/office/powerpoint/2010/main" val="2453679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Other examples</a:t>
            </a:r>
          </a:p>
        </p:txBody>
      </p:sp>
      <p:sp>
        <p:nvSpPr>
          <p:cNvPr id="4" name="Slide Number Placeholder 3"/>
          <p:cNvSpPr>
            <a:spLocks noGrp="1"/>
          </p:cNvSpPr>
          <p:nvPr>
            <p:ph type="sldNum" sz="quarter" idx="12"/>
          </p:nvPr>
        </p:nvSpPr>
        <p:spPr/>
        <p:txBody>
          <a:bodyPr/>
          <a:lstStyle/>
          <a:p>
            <a:fld id="{0393BAE2-A5DD-40CC-BEF0-872AF419E171}" type="slidenum">
              <a:rPr lang="en-US" smtClean="0"/>
              <a:t>43</a:t>
            </a:fld>
            <a:endParaRPr lang="en-US"/>
          </a:p>
        </p:txBody>
      </p:sp>
      <p:pic>
        <p:nvPicPr>
          <p:cNvPr id="5" name="Content Placeholder 4" descr="C:\Users\kbrown\Desktop\Projects_Current\BH_FFMC8e\FFMC8e_JPEGs\ch02\Figure_2-1.jpg"/>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685800" y="990600"/>
            <a:ext cx="7533303" cy="528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000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55950" y="2668166"/>
            <a:ext cx="632057" cy="632057"/>
          </a:xfrm>
          <a:prstGeom prst="rect">
            <a:avLst/>
          </a:prstGeom>
        </p:spPr>
      </p:pic>
      <p:sp>
        <p:nvSpPr>
          <p:cNvPr id="2" name="Title 1"/>
          <p:cNvSpPr>
            <a:spLocks noGrp="1"/>
          </p:cNvSpPr>
          <p:nvPr>
            <p:ph type="title"/>
          </p:nvPr>
        </p:nvSpPr>
        <p:spPr/>
        <p:txBody>
          <a:bodyPr>
            <a:normAutofit fontScale="90000"/>
          </a:bodyPr>
          <a:lstStyle/>
          <a:p>
            <a:r>
              <a:rPr lang="en-US" dirty="0"/>
              <a:t>Initial Public Offering (IPO) Process</a:t>
            </a:r>
          </a:p>
        </p:txBody>
      </p:sp>
      <p:sp>
        <p:nvSpPr>
          <p:cNvPr id="3" name="Content Placeholder 2"/>
          <p:cNvSpPr>
            <a:spLocks noGrp="1"/>
          </p:cNvSpPr>
          <p:nvPr>
            <p:ph idx="1"/>
          </p:nvPr>
        </p:nvSpPr>
        <p:spPr/>
        <p:txBody>
          <a:bodyPr/>
          <a:lstStyle/>
          <a:p>
            <a:r>
              <a:rPr lang="en-US" dirty="0"/>
              <a:t>A firm “goes public” through an IPO</a:t>
            </a:r>
          </a:p>
          <a:p>
            <a:endParaRPr lang="en-US" dirty="0"/>
          </a:p>
        </p:txBody>
      </p:sp>
      <p:sp>
        <p:nvSpPr>
          <p:cNvPr id="4" name="Slide Number Placeholder 3"/>
          <p:cNvSpPr>
            <a:spLocks noGrp="1"/>
          </p:cNvSpPr>
          <p:nvPr>
            <p:ph type="sldNum" sz="quarter" idx="12"/>
          </p:nvPr>
        </p:nvSpPr>
        <p:spPr/>
        <p:txBody>
          <a:bodyPr/>
          <a:lstStyle/>
          <a:p>
            <a:fld id="{0393BAE2-A5DD-40CC-BEF0-872AF419E171}" type="slidenum">
              <a:rPr lang="en-US" smtClean="0"/>
              <a:t>44</a:t>
            </a:fld>
            <a:endParaRPr lang="en-US"/>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32041" y="5313184"/>
            <a:ext cx="6168854" cy="1076325"/>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82291" y="1720912"/>
            <a:ext cx="1275338" cy="1275338"/>
          </a:xfrm>
          <a:prstGeom prst="rect">
            <a:avLst/>
          </a:prstGeom>
        </p:spPr>
      </p:pic>
      <p:sp>
        <p:nvSpPr>
          <p:cNvPr id="7" name="Right Arrow 6"/>
          <p:cNvSpPr/>
          <p:nvPr/>
        </p:nvSpPr>
        <p:spPr>
          <a:xfrm>
            <a:off x="2611701" y="2044834"/>
            <a:ext cx="1117022" cy="257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endParaRPr>
          </a:p>
        </p:txBody>
      </p:sp>
      <p:sp>
        <p:nvSpPr>
          <p:cNvPr id="8" name="Right Arrow 7"/>
          <p:cNvSpPr/>
          <p:nvPr/>
        </p:nvSpPr>
        <p:spPr>
          <a:xfrm>
            <a:off x="5068020" y="2104004"/>
            <a:ext cx="1028700" cy="257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endParaRPr>
          </a:p>
        </p:txBody>
      </p:sp>
      <p:sp>
        <p:nvSpPr>
          <p:cNvPr id="9" name="TextBox 8"/>
          <p:cNvSpPr txBox="1"/>
          <p:nvPr/>
        </p:nvSpPr>
        <p:spPr>
          <a:xfrm>
            <a:off x="6243505" y="2114168"/>
            <a:ext cx="1543050" cy="55399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eaLnBrk="0" fontAlgn="base" hangingPunct="0">
              <a:spcBef>
                <a:spcPct val="0"/>
              </a:spcBef>
              <a:spcAft>
                <a:spcPct val="0"/>
              </a:spcAft>
            </a:pPr>
            <a:r>
              <a:rPr lang="en-US" sz="3000" dirty="0">
                <a:solidFill>
                  <a:prstClr val="black"/>
                </a:solidFill>
              </a:rPr>
              <a:t>Public</a:t>
            </a:r>
          </a:p>
        </p:txBody>
      </p:sp>
      <p:sp>
        <p:nvSpPr>
          <p:cNvPr id="11" name="Left Arrow 10"/>
          <p:cNvSpPr/>
          <p:nvPr/>
        </p:nvSpPr>
        <p:spPr>
          <a:xfrm>
            <a:off x="5057629" y="2502078"/>
            <a:ext cx="1010516" cy="22797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endParaRPr>
          </a:p>
        </p:txBody>
      </p:sp>
      <p:sp>
        <p:nvSpPr>
          <p:cNvPr id="12" name="TextBox 11"/>
          <p:cNvSpPr txBox="1"/>
          <p:nvPr/>
        </p:nvSpPr>
        <p:spPr>
          <a:xfrm>
            <a:off x="2585310" y="1418921"/>
            <a:ext cx="10287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eaLnBrk="0" fontAlgn="base" hangingPunct="0">
              <a:spcBef>
                <a:spcPct val="0"/>
              </a:spcBef>
              <a:spcAft>
                <a:spcPct val="0"/>
              </a:spcAft>
            </a:pPr>
            <a:r>
              <a:rPr lang="en-US" dirty="0">
                <a:solidFill>
                  <a:prstClr val="black"/>
                </a:solidFill>
              </a:rPr>
              <a:t>Shares</a:t>
            </a:r>
          </a:p>
        </p:txBody>
      </p:sp>
      <p:sp>
        <p:nvSpPr>
          <p:cNvPr id="13" name="TextBox 12"/>
          <p:cNvSpPr txBox="1"/>
          <p:nvPr/>
        </p:nvSpPr>
        <p:spPr>
          <a:xfrm>
            <a:off x="5107638" y="1432017"/>
            <a:ext cx="10287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eaLnBrk="0" fontAlgn="base" hangingPunct="0">
              <a:spcBef>
                <a:spcPct val="0"/>
              </a:spcBef>
              <a:spcAft>
                <a:spcPct val="0"/>
              </a:spcAft>
            </a:pPr>
            <a:r>
              <a:rPr lang="en-US" dirty="0">
                <a:solidFill>
                  <a:prstClr val="black"/>
                </a:solidFill>
              </a:rPr>
              <a:t>Shares</a:t>
            </a:r>
          </a:p>
        </p:txBody>
      </p:sp>
      <p:pic>
        <p:nvPicPr>
          <p:cNvPr id="14" name="Picture 1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50146" y="2644543"/>
            <a:ext cx="632057" cy="632057"/>
          </a:xfrm>
          <a:prstGeom prst="rect">
            <a:avLst/>
          </a:prstGeom>
        </p:spPr>
      </p:pic>
      <p:sp>
        <p:nvSpPr>
          <p:cNvPr id="16" name="TextBox 15"/>
          <p:cNvSpPr txBox="1"/>
          <p:nvPr/>
        </p:nvSpPr>
        <p:spPr>
          <a:xfrm>
            <a:off x="495300" y="3399472"/>
            <a:ext cx="8153399" cy="1569660"/>
          </a:xfrm>
          <a:prstGeom prst="rect">
            <a:avLst/>
          </a:prstGeom>
          <a:noFill/>
        </p:spPr>
        <p:txBody>
          <a:bodyPr wrap="square" rtlCol="0">
            <a:spAutoFit/>
          </a:bodyPr>
          <a:lstStyle/>
          <a:p>
            <a:pPr eaLnBrk="0" fontAlgn="base" hangingPunct="0">
              <a:spcBef>
                <a:spcPct val="0"/>
              </a:spcBef>
              <a:spcAft>
                <a:spcPct val="0"/>
              </a:spcAft>
            </a:pPr>
            <a:r>
              <a:rPr lang="en-US" sz="1600" dirty="0">
                <a:solidFill>
                  <a:prstClr val="black"/>
                </a:solidFill>
                <a:latin typeface="Times New Roman" pitchFamily="18" charset="0"/>
              </a:rPr>
              <a:t>Usually, Goldman and BDW will agree on the IPO price.  For example, $20 per share.</a:t>
            </a:r>
          </a:p>
          <a:p>
            <a:pPr eaLnBrk="0" fontAlgn="base" hangingPunct="0">
              <a:spcBef>
                <a:spcPct val="0"/>
              </a:spcBef>
              <a:spcAft>
                <a:spcPct val="0"/>
              </a:spcAft>
            </a:pPr>
            <a:endParaRPr lang="en-US" sz="1600" dirty="0">
              <a:solidFill>
                <a:prstClr val="black"/>
              </a:solidFill>
              <a:latin typeface="Times New Roman" pitchFamily="18" charset="0"/>
            </a:endParaRPr>
          </a:p>
          <a:p>
            <a:pPr eaLnBrk="0" fontAlgn="base" hangingPunct="0">
              <a:spcBef>
                <a:spcPct val="0"/>
              </a:spcBef>
              <a:spcAft>
                <a:spcPct val="0"/>
              </a:spcAft>
            </a:pPr>
            <a:r>
              <a:rPr lang="en-US" sz="1600" dirty="0">
                <a:solidFill>
                  <a:prstClr val="black"/>
                </a:solidFill>
                <a:latin typeface="Times New Roman" pitchFamily="18" charset="0"/>
              </a:rPr>
              <a:t>Goldman will then buy the shares from BDW and take the responsibility for selling them to the public. So the IPO price is usually at least a little lower than the bank’s estimate of their value.</a:t>
            </a:r>
          </a:p>
          <a:p>
            <a:pPr eaLnBrk="0" fontAlgn="base" hangingPunct="0">
              <a:spcBef>
                <a:spcPct val="0"/>
              </a:spcBef>
              <a:spcAft>
                <a:spcPct val="0"/>
              </a:spcAft>
            </a:pPr>
            <a:endParaRPr lang="en-US" sz="1600" dirty="0">
              <a:solidFill>
                <a:prstClr val="black"/>
              </a:solidFill>
              <a:latin typeface="Times New Roman" pitchFamily="18" charset="0"/>
            </a:endParaRPr>
          </a:p>
          <a:p>
            <a:pPr eaLnBrk="0" fontAlgn="base" hangingPunct="0">
              <a:spcBef>
                <a:spcPct val="0"/>
              </a:spcBef>
              <a:spcAft>
                <a:spcPct val="0"/>
              </a:spcAft>
            </a:pPr>
            <a:r>
              <a:rPr lang="en-US" sz="1600" dirty="0">
                <a:solidFill>
                  <a:prstClr val="black"/>
                </a:solidFill>
                <a:latin typeface="Times New Roman" pitchFamily="18" charset="0"/>
              </a:rPr>
              <a:t>BDW pays Goldman a fee for their services, usually 7% of the total.</a:t>
            </a:r>
          </a:p>
        </p:txBody>
      </p:sp>
      <p:pic>
        <p:nvPicPr>
          <p:cNvPr id="19" name="Picture 2" descr="https://nelioabtesting.com/wp-content/uploads/2015/05/4.1_widget-type.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232041" y="1738419"/>
            <a:ext cx="1295400" cy="1295400"/>
          </a:xfrm>
          <a:prstGeom prst="rect">
            <a:avLst/>
          </a:prstGeom>
          <a:noFill/>
          <a:extLst>
            <a:ext uri="{909E8E84-426E-40DD-AFC4-6F175D3DCCD1}">
              <a14:hiddenFill xmlns:a14="http://schemas.microsoft.com/office/drawing/2010/main">
                <a:solidFill>
                  <a:srgbClr val="FFFFFF"/>
                </a:solidFill>
              </a14:hiddenFill>
            </a:ext>
          </a:extLst>
        </p:spPr>
      </p:pic>
      <p:sp>
        <p:nvSpPr>
          <p:cNvPr id="10" name="Left Arrow 9"/>
          <p:cNvSpPr/>
          <p:nvPr/>
        </p:nvSpPr>
        <p:spPr>
          <a:xfrm>
            <a:off x="2581009" y="2480221"/>
            <a:ext cx="1147714" cy="2716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endParaRPr>
          </a:p>
        </p:txBody>
      </p:sp>
    </p:spTree>
    <p:extLst>
      <p:ext uri="{BB962C8B-B14F-4D97-AF65-F5344CB8AC3E}">
        <p14:creationId xmlns:p14="http://schemas.microsoft.com/office/powerpoint/2010/main" val="376692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6" grpId="0"/>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However, the IPO landscape is changing…</a:t>
            </a:r>
          </a:p>
        </p:txBody>
      </p:sp>
      <p:sp>
        <p:nvSpPr>
          <p:cNvPr id="4" name="Slide Number Placeholder 3"/>
          <p:cNvSpPr>
            <a:spLocks noGrp="1"/>
          </p:cNvSpPr>
          <p:nvPr>
            <p:ph type="sldNum" sz="quarter" idx="12"/>
          </p:nvPr>
        </p:nvSpPr>
        <p:spPr/>
        <p:txBody>
          <a:bodyPr/>
          <a:lstStyle/>
          <a:p>
            <a:fld id="{0393BAE2-A5DD-40CC-BEF0-872AF419E171}" type="slidenum">
              <a:rPr lang="en-US" smtClean="0"/>
              <a:t>45</a:t>
            </a:fld>
            <a:endParaRPr lang="en-US"/>
          </a:p>
        </p:txBody>
      </p:sp>
      <p:pic>
        <p:nvPicPr>
          <p:cNvPr id="8" name="Content Placeholder 7">
            <a:extLst>
              <a:ext uri="{FF2B5EF4-FFF2-40B4-BE49-F238E27FC236}">
                <a16:creationId xmlns:a16="http://schemas.microsoft.com/office/drawing/2014/main" id="{67F85DF4-1611-45E4-A9C1-5A20C3DC24EA}"/>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866542" y="1282700"/>
            <a:ext cx="7410916" cy="5486400"/>
          </a:xfrm>
        </p:spPr>
      </p:pic>
      <p:sp>
        <p:nvSpPr>
          <p:cNvPr id="10" name="TextBox 9">
            <a:extLst>
              <a:ext uri="{FF2B5EF4-FFF2-40B4-BE49-F238E27FC236}">
                <a16:creationId xmlns:a16="http://schemas.microsoft.com/office/drawing/2014/main" id="{76812EA1-C0FF-498F-AA83-FD7B21C0EDE3}"/>
              </a:ext>
            </a:extLst>
          </p:cNvPr>
          <p:cNvSpPr txBox="1"/>
          <p:nvPr/>
        </p:nvSpPr>
        <p:spPr>
          <a:xfrm>
            <a:off x="304800" y="588744"/>
            <a:ext cx="8382000" cy="646331"/>
          </a:xfrm>
          <a:prstGeom prst="rect">
            <a:avLst/>
          </a:prstGeom>
          <a:noFill/>
        </p:spPr>
        <p:txBody>
          <a:bodyPr wrap="square">
            <a:spAutoFit/>
          </a:bodyPr>
          <a:lstStyle/>
          <a:p>
            <a:r>
              <a:rPr lang="en-US" dirty="0">
                <a:hlinkClick r:id="rId3"/>
              </a:rPr>
              <a:t>https://corpgov.law.harvard.edu/2019/12/17/evolving-perspectives-on-direct-listings-after-spotify-and-slack/</a:t>
            </a:r>
            <a:r>
              <a:rPr lang="en-US" dirty="0"/>
              <a:t> </a:t>
            </a:r>
          </a:p>
        </p:txBody>
      </p:sp>
    </p:spTree>
    <p:extLst>
      <p:ext uri="{BB962C8B-B14F-4D97-AF65-F5344CB8AC3E}">
        <p14:creationId xmlns:p14="http://schemas.microsoft.com/office/powerpoint/2010/main" val="41258302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91600" cy="1219200"/>
          </a:xfrm>
        </p:spPr>
        <p:txBody>
          <a:bodyPr>
            <a:normAutofit fontScale="90000"/>
          </a:bodyPr>
          <a:lstStyle/>
          <a:p>
            <a:r>
              <a:rPr lang="en-US" dirty="0"/>
              <a:t>When I </a:t>
            </a:r>
            <a:r>
              <a:rPr lang="en-US"/>
              <a:t>purchase Facebook </a:t>
            </a:r>
            <a:r>
              <a:rPr lang="en-US" dirty="0"/>
              <a:t>stock, who gets the money?</a:t>
            </a:r>
          </a:p>
        </p:txBody>
      </p:sp>
      <p:sp>
        <p:nvSpPr>
          <p:cNvPr id="4" name="Slide Number Placeholder 3"/>
          <p:cNvSpPr>
            <a:spLocks noGrp="1"/>
          </p:cNvSpPr>
          <p:nvPr>
            <p:ph type="sldNum" sz="quarter" idx="12"/>
          </p:nvPr>
        </p:nvSpPr>
        <p:spPr/>
        <p:txBody>
          <a:bodyPr/>
          <a:lstStyle/>
          <a:p>
            <a:fld id="{0393BAE2-A5DD-40CC-BEF0-872AF419E171}" type="slidenum">
              <a:rPr lang="en-US" smtClean="0"/>
              <a:t>46</a:t>
            </a:fld>
            <a:endParaRPr lang="en-US"/>
          </a:p>
        </p:txBody>
      </p:sp>
      <p:pic>
        <p:nvPicPr>
          <p:cNvPr id="3" name="Picture 2" descr="Chesnot/Getty Images">
            <a:extLst>
              <a:ext uri="{FF2B5EF4-FFF2-40B4-BE49-F238E27FC236}">
                <a16:creationId xmlns:a16="http://schemas.microsoft.com/office/drawing/2014/main" id="{2075CC4E-2C66-6E86-E6E1-F65A4FEFB0A4}"/>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151095" y="2133600"/>
            <a:ext cx="2937810" cy="19565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B108E0D-DDC9-6965-1F09-8685339D946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8600" y="1433512"/>
            <a:ext cx="5831527" cy="5105400"/>
          </a:xfrm>
          <a:prstGeom prst="rect">
            <a:avLst/>
          </a:prstGeom>
        </p:spPr>
      </p:pic>
    </p:spTree>
    <p:extLst>
      <p:ext uri="{BB962C8B-B14F-4D97-AF65-F5344CB8AC3E}">
        <p14:creationId xmlns:p14="http://schemas.microsoft.com/office/powerpoint/2010/main" val="1348879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Primary vs Secondary Markets</a:t>
            </a:r>
          </a:p>
        </p:txBody>
      </p:sp>
      <p:sp>
        <p:nvSpPr>
          <p:cNvPr id="3" name="Content Placeholder 2"/>
          <p:cNvSpPr>
            <a:spLocks noGrp="1"/>
          </p:cNvSpPr>
          <p:nvPr>
            <p:ph idx="1"/>
          </p:nvPr>
        </p:nvSpPr>
        <p:spPr/>
        <p:txBody>
          <a:bodyPr/>
          <a:lstStyle/>
          <a:p>
            <a:r>
              <a:rPr lang="en-US" dirty="0"/>
              <a:t>Primary Market:</a:t>
            </a:r>
          </a:p>
          <a:p>
            <a:pPr lvl="1"/>
            <a:r>
              <a:rPr lang="en-US" dirty="0"/>
              <a:t>Creation of new shares and selling to public</a:t>
            </a:r>
          </a:p>
          <a:p>
            <a:pPr lvl="2"/>
            <a:r>
              <a:rPr lang="en-US" dirty="0"/>
              <a:t>Initial Public Offering (IPO)</a:t>
            </a:r>
          </a:p>
          <a:p>
            <a:pPr lvl="2"/>
            <a:r>
              <a:rPr lang="en-US" dirty="0"/>
              <a:t>Seasoned Equity Offering (SEO)</a:t>
            </a:r>
          </a:p>
          <a:p>
            <a:pPr lvl="3"/>
            <a:r>
              <a:rPr lang="en-US" dirty="0"/>
              <a:t>Similar to IPO but firm is already public</a:t>
            </a:r>
          </a:p>
          <a:p>
            <a:r>
              <a:rPr lang="en-US" dirty="0"/>
              <a:t>Secondary Market:</a:t>
            </a:r>
          </a:p>
          <a:p>
            <a:pPr lvl="1"/>
            <a:r>
              <a:rPr lang="en-US" dirty="0"/>
              <a:t>Bob buys from Jill who bought from Jack</a:t>
            </a:r>
          </a:p>
          <a:p>
            <a:pPr lvl="1"/>
            <a:r>
              <a:rPr lang="en-US" dirty="0"/>
              <a:t>A way of transferring wealth from individual to individual</a:t>
            </a:r>
          </a:p>
        </p:txBody>
      </p:sp>
      <p:sp>
        <p:nvSpPr>
          <p:cNvPr id="4" name="Slide Number Placeholder 3"/>
          <p:cNvSpPr>
            <a:spLocks noGrp="1"/>
          </p:cNvSpPr>
          <p:nvPr>
            <p:ph type="sldNum" sz="quarter" idx="12"/>
          </p:nvPr>
        </p:nvSpPr>
        <p:spPr/>
        <p:txBody>
          <a:bodyPr/>
          <a:lstStyle/>
          <a:p>
            <a:fld id="{0393BAE2-A5DD-40CC-BEF0-872AF419E171}" type="slidenum">
              <a:rPr lang="en-US" smtClean="0"/>
              <a:t>47</a:t>
            </a:fld>
            <a:endParaRPr lang="en-US"/>
          </a:p>
        </p:txBody>
      </p:sp>
    </p:spTree>
    <p:extLst>
      <p:ext uri="{BB962C8B-B14F-4D97-AF65-F5344CB8AC3E}">
        <p14:creationId xmlns:p14="http://schemas.microsoft.com/office/powerpoint/2010/main" val="3243427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Risk vs Reward</a:t>
            </a:r>
          </a:p>
        </p:txBody>
      </p:sp>
      <p:sp>
        <p:nvSpPr>
          <p:cNvPr id="4" name="Slide Number Placeholder 3"/>
          <p:cNvSpPr>
            <a:spLocks noGrp="1"/>
          </p:cNvSpPr>
          <p:nvPr>
            <p:ph type="sldNum" sz="quarter" idx="12"/>
          </p:nvPr>
        </p:nvSpPr>
        <p:spPr/>
        <p:txBody>
          <a:bodyPr/>
          <a:lstStyle/>
          <a:p>
            <a:fld id="{0393BAE2-A5DD-40CC-BEF0-872AF419E171}" type="slidenum">
              <a:rPr lang="en-US" smtClean="0"/>
              <a:t>48</a:t>
            </a:fld>
            <a:endParaRPr lang="en-US"/>
          </a:p>
        </p:txBody>
      </p:sp>
      <p:pic>
        <p:nvPicPr>
          <p:cNvPr id="7" name="Picture 6" descr="C:\Users\kbrown\Desktop\Projects_Current\BH_FFMC8e\FFMC8e_JPEGs\ch02\Table_2-1.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5400000">
            <a:off x="1902219" y="-911620"/>
            <a:ext cx="5334000" cy="8681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994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Risk vs Reward</a:t>
            </a:r>
          </a:p>
        </p:txBody>
      </p:sp>
      <p:pic>
        <p:nvPicPr>
          <p:cNvPr id="6" name="Content Placeholder 5"/>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76200" y="762000"/>
            <a:ext cx="8941755" cy="4191000"/>
          </a:xfrm>
          <a:prstGeom prst="rect">
            <a:avLst/>
          </a:prstGeom>
        </p:spPr>
      </p:pic>
      <p:sp>
        <p:nvSpPr>
          <p:cNvPr id="4" name="Slide Number Placeholder 3"/>
          <p:cNvSpPr>
            <a:spLocks noGrp="1"/>
          </p:cNvSpPr>
          <p:nvPr>
            <p:ph type="sldNum" sz="quarter" idx="12"/>
          </p:nvPr>
        </p:nvSpPr>
        <p:spPr/>
        <p:txBody>
          <a:bodyPr/>
          <a:lstStyle/>
          <a:p>
            <a:fld id="{0393BAE2-A5DD-40CC-BEF0-872AF419E171}" type="slidenum">
              <a:rPr lang="en-US" smtClean="0"/>
              <a:t>49</a:t>
            </a:fld>
            <a:endParaRPr lang="en-US"/>
          </a:p>
        </p:txBody>
      </p:sp>
      <p:sp>
        <p:nvSpPr>
          <p:cNvPr id="3" name="Rectangle 2"/>
          <p:cNvSpPr/>
          <p:nvPr/>
        </p:nvSpPr>
        <p:spPr>
          <a:xfrm>
            <a:off x="7239000" y="3505200"/>
            <a:ext cx="609600" cy="304800"/>
          </a:xfrm>
          <a:prstGeom prst="rect">
            <a:avLst/>
          </a:prstGeom>
          <a:noFill/>
          <a:ln w="698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5814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p500_hist2014"/>
          <p:cNvPicPr>
            <a:picLocks noGrp="1" noChangeAspect="1" noChangeArrowheads="1"/>
          </p:cNvPicPr>
          <p:nvPr>
            <p:ph idx="1"/>
          </p:nvPr>
        </p:nvPicPr>
        <p:blipFill rotWithShape="1">
          <a:blip r:embed="rId2" cstate="email">
            <a:extLst>
              <a:ext uri="{28A0092B-C50C-407E-A947-70E740481C1C}">
                <a14:useLocalDpi xmlns:a14="http://schemas.microsoft.com/office/drawing/2010/main"/>
              </a:ext>
            </a:extLst>
          </a:blip>
          <a:srcRect b="2586"/>
          <a:stretch/>
        </p:blipFill>
        <p:spPr bwMode="auto">
          <a:xfrm>
            <a:off x="2362200" y="1041400"/>
            <a:ext cx="4419600" cy="5740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76200" y="76200"/>
            <a:ext cx="8991600" cy="1066800"/>
          </a:xfrm>
        </p:spPr>
        <p:txBody>
          <a:bodyPr>
            <a:normAutofit fontScale="90000"/>
          </a:bodyPr>
          <a:lstStyle/>
          <a:p>
            <a:r>
              <a:rPr lang="en-US" dirty="0"/>
              <a:t>A History of Stock Market Returns</a:t>
            </a:r>
            <a:br>
              <a:rPr lang="en-US" dirty="0"/>
            </a:br>
            <a:r>
              <a:rPr lang="en-US" dirty="0"/>
              <a:t>Are stocks risky?</a:t>
            </a:r>
          </a:p>
        </p:txBody>
      </p:sp>
      <p:sp>
        <p:nvSpPr>
          <p:cNvPr id="4" name="Slide Number Placeholder 3"/>
          <p:cNvSpPr>
            <a:spLocks noGrp="1"/>
          </p:cNvSpPr>
          <p:nvPr>
            <p:ph type="sldNum" sz="quarter" idx="12"/>
          </p:nvPr>
        </p:nvSpPr>
        <p:spPr/>
        <p:txBody>
          <a:bodyPr/>
          <a:lstStyle/>
          <a:p>
            <a:fld id="{0393BAE2-A5DD-40CC-BEF0-872AF419E171}" type="slidenum">
              <a:rPr lang="en-US" smtClean="0"/>
              <a:t>50</a:t>
            </a:fld>
            <a:endParaRPr lang="en-US"/>
          </a:p>
        </p:txBody>
      </p:sp>
    </p:spTree>
    <p:extLst>
      <p:ext uri="{BB962C8B-B14F-4D97-AF65-F5344CB8AC3E}">
        <p14:creationId xmlns:p14="http://schemas.microsoft.com/office/powerpoint/2010/main" val="2201794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FCE7A64-4F11-AAAD-3C31-2D496A95A186}"/>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438643" y="1295400"/>
            <a:ext cx="6266714" cy="5486400"/>
          </a:xfrm>
        </p:spPr>
      </p:pic>
      <p:sp>
        <p:nvSpPr>
          <p:cNvPr id="2" name="Title 1"/>
          <p:cNvSpPr>
            <a:spLocks noGrp="1"/>
          </p:cNvSpPr>
          <p:nvPr>
            <p:ph type="title"/>
          </p:nvPr>
        </p:nvSpPr>
        <p:spPr>
          <a:xfrm>
            <a:off x="76200" y="0"/>
            <a:ext cx="8991600" cy="1371600"/>
          </a:xfrm>
        </p:spPr>
        <p:txBody>
          <a:bodyPr>
            <a:normAutofit fontScale="90000"/>
          </a:bodyPr>
          <a:lstStyle/>
          <a:p>
            <a:r>
              <a:rPr lang="en-US" dirty="0"/>
              <a:t>How are market cap and P/E ratio computed?</a:t>
            </a:r>
          </a:p>
        </p:txBody>
      </p:sp>
      <p:sp>
        <p:nvSpPr>
          <p:cNvPr id="4" name="Slide Number Placeholder 3"/>
          <p:cNvSpPr>
            <a:spLocks noGrp="1"/>
          </p:cNvSpPr>
          <p:nvPr>
            <p:ph type="sldNum" sz="quarter" idx="12"/>
          </p:nvPr>
        </p:nvSpPr>
        <p:spPr/>
        <p:txBody>
          <a:bodyPr/>
          <a:lstStyle/>
          <a:p>
            <a:fld id="{0393BAE2-A5DD-40CC-BEF0-872AF419E171}" type="slidenum">
              <a:rPr lang="en-US" smtClean="0"/>
              <a:t>51</a:t>
            </a:fld>
            <a:endParaRPr lang="en-US"/>
          </a:p>
        </p:txBody>
      </p:sp>
      <p:sp>
        <p:nvSpPr>
          <p:cNvPr id="6" name="Rectangle 5"/>
          <p:cNvSpPr/>
          <p:nvPr/>
        </p:nvSpPr>
        <p:spPr>
          <a:xfrm>
            <a:off x="3505200" y="5996940"/>
            <a:ext cx="1676400" cy="762000"/>
          </a:xfrm>
          <a:prstGeom prst="rect">
            <a:avLst/>
          </a:prstGeom>
          <a:noFill/>
          <a:ln w="698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3228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1556</TotalTime>
  <Words>1934</Words>
  <Application>Microsoft Office PowerPoint</Application>
  <PresentationFormat>On-screen Show (4:3)</PresentationFormat>
  <Paragraphs>292</Paragraphs>
  <Slides>51</Slides>
  <Notes>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7" baseType="lpstr">
      <vt:lpstr>Arial</vt:lpstr>
      <vt:lpstr>Calibri</vt:lpstr>
      <vt:lpstr>Google Sans</vt:lpstr>
      <vt:lpstr>Times New Roman</vt:lpstr>
      <vt:lpstr>Office Theme</vt:lpstr>
      <vt:lpstr>Clip</vt:lpstr>
      <vt:lpstr>Chapter 1: An Overview of Financial Management</vt:lpstr>
      <vt:lpstr>Types of business organization</vt:lpstr>
      <vt:lpstr>Example</vt:lpstr>
      <vt:lpstr>PowerPoint Presentation</vt:lpstr>
      <vt:lpstr>“Schedule C”</vt:lpstr>
      <vt:lpstr>Partnership</vt:lpstr>
      <vt:lpstr>PowerPoint Presentation</vt:lpstr>
      <vt:lpstr>Bob’s Discount Widgets</vt:lpstr>
      <vt:lpstr>Decision to incorporate</vt:lpstr>
      <vt:lpstr>PowerPoint Presentation</vt:lpstr>
      <vt:lpstr>Corporate Governance</vt:lpstr>
      <vt:lpstr>Agency Problems within Corporations</vt:lpstr>
      <vt:lpstr>Agency issues: Management vs Shareholders</vt:lpstr>
      <vt:lpstr>What is a call option on a stock?</vt:lpstr>
      <vt:lpstr>PowerPoint Presentation</vt:lpstr>
      <vt:lpstr>What is a call option on a stock?</vt:lpstr>
      <vt:lpstr>Agency issues: Debtholders vs Shareholders</vt:lpstr>
      <vt:lpstr>Agency issues: Debtholders vs Shareholders</vt:lpstr>
      <vt:lpstr>Project A</vt:lpstr>
      <vt:lpstr>Project B</vt:lpstr>
      <vt:lpstr>Agency issues: Debtholders vs Shareholders</vt:lpstr>
      <vt:lpstr>Debt covenants</vt:lpstr>
      <vt:lpstr>Corporate Org Chart</vt:lpstr>
      <vt:lpstr>Who is Mark Zuckerberg's boss?</vt:lpstr>
      <vt:lpstr>Expanded Org Chart</vt:lpstr>
      <vt:lpstr>The board of directors acts on behalf of shareholders.</vt:lpstr>
      <vt:lpstr>Who is the boss of the board?</vt:lpstr>
      <vt:lpstr>PowerPoint Presentation</vt:lpstr>
      <vt:lpstr>Actual vs “Intrinsic” Value</vt:lpstr>
      <vt:lpstr>PowerPoint Presentation</vt:lpstr>
      <vt:lpstr>PowerPoint Presentation</vt:lpstr>
      <vt:lpstr>The investment trade-off</vt:lpstr>
      <vt:lpstr>Cost of Capital</vt:lpstr>
      <vt:lpstr>Cost of Capital</vt:lpstr>
      <vt:lpstr>Cost of Capital</vt:lpstr>
      <vt:lpstr>Investment trade-off</vt:lpstr>
      <vt:lpstr>The Investment trade-off</vt:lpstr>
      <vt:lpstr>PowerPoint Presentation</vt:lpstr>
      <vt:lpstr>Socially Responsible Investing</vt:lpstr>
      <vt:lpstr>Chapter 2</vt:lpstr>
      <vt:lpstr>What is the point of financial markets?</vt:lpstr>
      <vt:lpstr>Financial Intermediation</vt:lpstr>
      <vt:lpstr>Other examples</vt:lpstr>
      <vt:lpstr>Initial Public Offering (IPO) Process</vt:lpstr>
      <vt:lpstr>However, the IPO landscape is changing…</vt:lpstr>
      <vt:lpstr>When I purchase Facebook stock, who gets the money?</vt:lpstr>
      <vt:lpstr>Primary vs Secondary Markets</vt:lpstr>
      <vt:lpstr>Risk vs Reward</vt:lpstr>
      <vt:lpstr>Risk vs Reward</vt:lpstr>
      <vt:lpstr>A History of Stock Market Returns Are stocks risky?</vt:lpstr>
      <vt:lpstr>How are market cap and P/E ratio computed?</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 467: Options, Futures and Derivative Securities</dc:title>
  <dc:creator>Anonymous</dc:creator>
  <cp:lastModifiedBy>Brian Baugh</cp:lastModifiedBy>
  <cp:revision>261</cp:revision>
  <cp:lastPrinted>2025-01-21T19:26:12Z</cp:lastPrinted>
  <dcterms:created xsi:type="dcterms:W3CDTF">2017-01-04T15:22:07Z</dcterms:created>
  <dcterms:modified xsi:type="dcterms:W3CDTF">2025-01-21T19:35:10Z</dcterms:modified>
</cp:coreProperties>
</file>